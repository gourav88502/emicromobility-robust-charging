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Charging infrastructure for shared e-scooters hides a trap. Build a solar charging station for average demand, and it collapses when demand peaks. Build it for the worst case, and you sink capital into equipment that mostly sits idle. Our project asks the sharper question: which station should you actually build when the future is uncertain? We answer it with robust optimisation, grounded in real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Our hub is a depot charging a mixed fleet of e-scooters, e-bikes and e-cargo bikes, whose demand swings with season, weather and growth. The challenge intensifies because the site has a constrained grid connection — a bigger import limit needs a costly network reinforcement — so the evening charging peak must come from on-site solar and storage. We built Low, Medium and High demand scenarios directly from the real DfT Newcastle e-scooter trial: real trips, fleet size, deployment and trip distance. The demand range is observed, not assumed.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The pipeline is fully reproducible. From the real data we build fifteen demand scenarios, then simulate an eight-thousand-seven-hundred-and-sixty-hour energy balance for every candidate station — solar, to battery, to a capped grid. We evaluate a hundred and fifty designs under five decision rules: naive, a two-stage stochastic program, CVaR, minimax-regret and maximin — then confirm the conclusion holds across every assumption and validate against published benchmarks.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Here is the headline. The naive, average-demand design is cheapest on a normal day, but in the worst demand future it strands about thirteen percent of the fleet and its cost balloons. The robust design eliminates that risk. It cuts worst-case annual cost by more than half and lifts guaranteed fleet service from eighty-seven to ninety-seven percent. The Pareto frontier makes the trade-off explicit: a small expected-cost premium buys large protection against the demand tail.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The recommended robust station is twenty-five kilowatt-peak of solar, fifty kilowatt-hours of storage and eight charge bays. The dispatch profile shows how it works: the battery charges overnight and from midday sun, then discharges through the evening collection peak, shaving demand the constrained grid cannot meet. This directly delivers Theme two — modelling charge and discharge profiles under demand scenarios.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The design is feasible today: off-the-shelf solar, lithium-ion storage and standard low-power charge bays. It cuts operational carbon by about two thirds versus grid-only charging, and all seven key outputs sit within published benchmark ranges. Every number is reproducible — open-source, deterministic, one command, with automated tests — so any reviewer can audit the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Every line of code and every figure is original, built from scratch, and all three datasets are real — DfT, PVGIS and the National Grid carbon API. In one sentence: we turn demand uncertainty from a risk into a design input — and show that robustness pays.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B3A"/>
        </a:solidFill>
        <a:effectLst/>
      </p:bgPr>
    </p:bg>
    <p:spTree>
      <p:nvGrpSpPr>
        <p:cNvPr id="1" name=""/>
        <p:cNvGrpSpPr/>
        <p:nvPr/>
      </p:nvGrpSpPr>
      <p:grpSpPr/>
      <p:sp>
        <p:nvSpPr>
          <p:cNvPr id="2" name="Rectangle 1"/>
          <p:cNvSpPr/>
          <p:nvPr/>
        </p:nvSpPr>
        <p:spPr>
          <a:xfrm>
            <a:off x="0" y="2880360"/>
            <a:ext cx="256032" cy="1371600"/>
          </a:xfrm>
          <a:prstGeom prst="rect">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515600" cy="914400"/>
          </a:xfrm>
          <a:prstGeom prst="rect">
            <a:avLst/>
          </a:prstGeom>
          <a:noFill/>
        </p:spPr>
        <p:txBody>
          <a:bodyPr wrap="square" anchor="t" lIns="0" rIns="0" tIns="0" bIns="0">
            <a:spAutoFit/>
          </a:bodyPr>
          <a:lstStyle/>
          <a:p>
            <a:pPr algn="l">
              <a:lnSpc>
                <a:spcPct val="105000"/>
              </a:lnSpc>
              <a:spcAft>
                <a:spcPts val="600"/>
              </a:spcAft>
            </a:pPr>
            <a:r>
              <a:rPr sz="4000" b="1" i="0">
                <a:solidFill>
                  <a:srgbClr val="FFFFFF"/>
                </a:solidFill>
                <a:latin typeface="Georgia"/>
              </a:rPr>
              <a:t>Robust Charging Infrastructure Design</a:t>
            </a:r>
          </a:p>
        </p:txBody>
      </p:sp>
      <p:sp>
        <p:nvSpPr>
          <p:cNvPr id="4" name="TextBox 3"/>
          <p:cNvSpPr txBox="1"/>
          <p:nvPr/>
        </p:nvSpPr>
        <p:spPr>
          <a:xfrm>
            <a:off x="822960" y="2651760"/>
            <a:ext cx="10515600" cy="822960"/>
          </a:xfrm>
          <a:prstGeom prst="rect">
            <a:avLst/>
          </a:prstGeom>
          <a:noFill/>
        </p:spPr>
        <p:txBody>
          <a:bodyPr wrap="square" anchor="t" lIns="0" rIns="0" tIns="0" bIns="0">
            <a:spAutoFit/>
          </a:bodyPr>
          <a:lstStyle/>
          <a:p>
            <a:pPr algn="l">
              <a:lnSpc>
                <a:spcPct val="105000"/>
              </a:lnSpc>
              <a:spcAft>
                <a:spcPts val="600"/>
              </a:spcAft>
            </a:pPr>
            <a:r>
              <a:rPr sz="4000" b="1" i="0">
                <a:solidFill>
                  <a:srgbClr val="F2B705"/>
                </a:solidFill>
                <a:latin typeface="Georgia"/>
              </a:rPr>
              <a:t>under Demand Uncertainty</a:t>
            </a:r>
          </a:p>
        </p:txBody>
      </p:sp>
      <p:sp>
        <p:nvSpPr>
          <p:cNvPr id="5" name="TextBox 4"/>
          <p:cNvSpPr txBox="1"/>
          <p:nvPr/>
        </p:nvSpPr>
        <p:spPr>
          <a:xfrm>
            <a:off x="868680" y="3657600"/>
            <a:ext cx="1042416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FFFFFF"/>
                </a:solidFill>
                <a:latin typeface="Calibri"/>
              </a:rPr>
              <a:t>A solar-powered charging station for a shared e-micromobility fleet</a:t>
            </a:r>
          </a:p>
        </p:txBody>
      </p:sp>
      <p:sp>
        <p:nvSpPr>
          <p:cNvPr id="6" name="TextBox 5"/>
          <p:cNvSpPr txBox="1"/>
          <p:nvPr/>
        </p:nvSpPr>
        <p:spPr>
          <a:xfrm>
            <a:off x="868680" y="4297680"/>
            <a:ext cx="10424160" cy="457200"/>
          </a:xfrm>
          <a:prstGeom prst="rect">
            <a:avLst/>
          </a:prstGeom>
          <a:noFill/>
        </p:spPr>
        <p:txBody>
          <a:bodyPr wrap="square" anchor="t" lIns="0" rIns="0" tIns="0" bIns="0">
            <a:spAutoFit/>
          </a:bodyPr>
          <a:lstStyle/>
          <a:p>
            <a:pPr algn="l">
              <a:lnSpc>
                <a:spcPct val="105000"/>
              </a:lnSpc>
              <a:spcAft>
                <a:spcPts val="600"/>
              </a:spcAft>
            </a:pPr>
            <a:r>
              <a:rPr sz="1600" b="0" i="1">
                <a:solidFill>
                  <a:srgbClr val="CADCFC"/>
                </a:solidFill>
                <a:latin typeface="Calibri"/>
              </a:rPr>
              <a:t>Which station do you build when the future is uncertain?</a:t>
            </a:r>
          </a:p>
        </p:txBody>
      </p:sp>
      <p:sp>
        <p:nvSpPr>
          <p:cNvPr id="7" name="Rounded Rectangle 6"/>
          <p:cNvSpPr/>
          <p:nvPr/>
        </p:nvSpPr>
        <p:spPr>
          <a:xfrm>
            <a:off x="868680" y="5212080"/>
            <a:ext cx="2743200" cy="384048"/>
          </a:xfrm>
          <a:prstGeom prst="roundRect">
            <a:avLst/>
          </a:prstGeom>
          <a:solidFill>
            <a:srgbClr val="43AA8B"/>
          </a:solidFill>
          <a:ln>
            <a:noFill/>
          </a:ln>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FFFFFF"/>
                </a:solidFill>
                <a:latin typeface="Calibri"/>
              </a:rPr>
              <a:t>Theme 3 — solar charging station</a:t>
            </a:r>
          </a:p>
        </p:txBody>
      </p:sp>
      <p:sp>
        <p:nvSpPr>
          <p:cNvPr id="8" name="Rounded Rectangle 7"/>
          <p:cNvSpPr/>
          <p:nvPr/>
        </p:nvSpPr>
        <p:spPr>
          <a:xfrm>
            <a:off x="3749039" y="5212080"/>
            <a:ext cx="3291840" cy="384048"/>
          </a:xfrm>
          <a:prstGeom prst="round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FFFFFF"/>
                </a:solidFill>
                <a:latin typeface="Calibri"/>
              </a:rPr>
              <a:t>Theme 2 — charge/discharge profiles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731520"/>
          </a:xfrm>
          <a:prstGeom prst="rect">
            <a:avLst/>
          </a:prstGeom>
          <a:noFill/>
        </p:spPr>
        <p:txBody>
          <a:bodyPr wrap="square" anchor="t" lIns="0" rIns="0" tIns="0" bIns="0">
            <a:spAutoFit/>
          </a:bodyPr>
          <a:lstStyle/>
          <a:p>
            <a:pPr algn="l">
              <a:lnSpc>
                <a:spcPct val="105000"/>
              </a:lnSpc>
              <a:spcAft>
                <a:spcPts val="600"/>
              </a:spcAft>
            </a:pPr>
            <a:r>
              <a:rPr sz="3200" b="1" i="0">
                <a:solidFill>
                  <a:srgbClr val="1B1B3A"/>
                </a:solidFill>
                <a:latin typeface="Georgia"/>
              </a:rPr>
              <a:t>The problem: sized for average, or for the worst?</a:t>
            </a:r>
          </a:p>
        </p:txBody>
      </p:sp>
      <p:sp>
        <p:nvSpPr>
          <p:cNvPr id="3" name="TextBox 2"/>
          <p:cNvSpPr txBox="1"/>
          <p:nvPr/>
        </p:nvSpPr>
        <p:spPr>
          <a:xfrm>
            <a:off x="640080" y="1463040"/>
            <a:ext cx="5577840" cy="4389120"/>
          </a:xfrm>
          <a:prstGeom prst="rect">
            <a:avLst/>
          </a:prstGeom>
          <a:noFill/>
        </p:spPr>
        <p:txBody>
          <a:bodyPr wrap="square" anchor="t" lIns="0" rIns="0" tIns="0" bIns="0">
            <a:spAutoFit/>
          </a:bodyPr>
          <a:lstStyle/>
          <a:p>
            <a:pPr algn="l">
              <a:lnSpc>
                <a:spcPct val="106000"/>
              </a:lnSpc>
              <a:spcAft>
                <a:spcPts val="1200"/>
              </a:spcAft>
            </a:pPr>
            <a:r>
              <a:rPr sz="1550" b="1" i="0">
                <a:solidFill>
                  <a:srgbClr val="1B1B3A"/>
                </a:solidFill>
                <a:latin typeface="Calibri"/>
              </a:rPr>
              <a:t>A mixed-fleet depot.  </a:t>
            </a:r>
            <a:r>
              <a:rPr sz="1550" b="0" i="0">
                <a:solidFill>
                  <a:srgbClr val="22222A"/>
                </a:solidFill>
                <a:latin typeface="Calibri"/>
              </a:rPr>
              <a:t>The hub charges e-scooters, e-bikes and e-cargo bikes; demand swings with season, weather, events and growth.</a:t>
            </a:r>
          </a:p>
          <a:p>
            <a:pPr algn="l">
              <a:lnSpc>
                <a:spcPct val="106000"/>
              </a:lnSpc>
              <a:spcAft>
                <a:spcPts val="1200"/>
              </a:spcAft>
            </a:pPr>
            <a:r>
              <a:rPr sz="1550" b="1" i="0">
                <a:solidFill>
                  <a:srgbClr val="1B1B3A"/>
                </a:solidFill>
                <a:latin typeface="Calibri"/>
              </a:rPr>
              <a:t>The dilemma.  </a:t>
            </a:r>
            <a:r>
              <a:rPr sz="1550" b="0" i="0">
                <a:solidFill>
                  <a:srgbClr val="22222A"/>
                </a:solidFill>
                <a:latin typeface="Calibri"/>
              </a:rPr>
              <a:t>Size for average demand and the fleet is stranded at peaks; size for the worst case and capital is wasted.</a:t>
            </a:r>
          </a:p>
          <a:p>
            <a:pPr algn="l">
              <a:lnSpc>
                <a:spcPct val="106000"/>
              </a:lnSpc>
              <a:spcAft>
                <a:spcPts val="1200"/>
              </a:spcAft>
            </a:pPr>
            <a:r>
              <a:rPr sz="1550" b="1" i="0">
                <a:solidFill>
                  <a:srgbClr val="1B1B3A"/>
                </a:solidFill>
                <a:latin typeface="Calibri"/>
              </a:rPr>
              <a:t>A constrained grid.  </a:t>
            </a:r>
            <a:r>
              <a:rPr sz="1550" b="0" i="0">
                <a:solidFill>
                  <a:srgbClr val="22222A"/>
                </a:solidFill>
                <a:latin typeface="Calibri"/>
              </a:rPr>
              <a:t>A higher import limit needs a costly DNO reinforcement, so the evening peak must come from on-site solar + storage.</a:t>
            </a:r>
          </a:p>
          <a:p>
            <a:pPr algn="l">
              <a:lnSpc>
                <a:spcPct val="106000"/>
              </a:lnSpc>
              <a:spcAft>
                <a:spcPts val="1200"/>
              </a:spcAft>
            </a:pPr>
            <a:r>
              <a:rPr sz="1550" b="1" i="0">
                <a:solidFill>
                  <a:srgbClr val="1B1B3A"/>
                </a:solidFill>
                <a:latin typeface="Calibri"/>
              </a:rPr>
              <a:t>Real data.  </a:t>
            </a:r>
            <a:r>
              <a:rPr sz="1550" b="0" i="0">
                <a:solidFill>
                  <a:srgbClr val="22222A"/>
                </a:solidFill>
                <a:latin typeface="Calibri"/>
              </a:rPr>
              <a:t>Low / Medium / High scenarios are built from the real DfT Newcastle e-scooter trial — trips, fleet, deployment, distance.</a:t>
            </a:r>
          </a:p>
        </p:txBody>
      </p:sp>
      <p:pic>
        <p:nvPicPr>
          <p:cNvPr id="4" name="Picture 3" descr="01_scenario_demand.png"/>
          <p:cNvPicPr>
            <a:picLocks noChangeAspect="1"/>
          </p:cNvPicPr>
          <p:nvPr/>
        </p:nvPicPr>
        <p:blipFill>
          <a:blip r:embed="rId2"/>
          <a:stretch>
            <a:fillRect/>
          </a:stretch>
        </p:blipFill>
        <p:spPr>
          <a:xfrm>
            <a:off x="6400800" y="2438122"/>
            <a:ext cx="5394960" cy="2256074"/>
          </a:xfrm>
          <a:prstGeom prst="rect">
            <a:avLst/>
          </a:prstGeom>
        </p:spPr>
      </p:pic>
      <p:sp>
        <p:nvSpPr>
          <p:cNvPr id="5" name="TextBox 4"/>
          <p:cNvSpPr txBox="1"/>
          <p:nvPr/>
        </p:nvSpPr>
        <p:spPr>
          <a:xfrm>
            <a:off x="6400800" y="5760720"/>
            <a:ext cx="5394960" cy="457200"/>
          </a:xfrm>
          <a:prstGeom prst="rect">
            <a:avLst/>
          </a:prstGeom>
          <a:noFill/>
        </p:spPr>
        <p:txBody>
          <a:bodyPr wrap="square" anchor="t" lIns="0" rIns="0" tIns="0" bIns="0">
            <a:spAutoFit/>
          </a:bodyPr>
          <a:lstStyle/>
          <a:p>
            <a:pPr algn="ctr">
              <a:lnSpc>
                <a:spcPct val="105000"/>
              </a:lnSpc>
              <a:spcAft>
                <a:spcPts val="600"/>
              </a:spcAft>
            </a:pPr>
            <a:r>
              <a:rPr sz="1100" b="0" i="1">
                <a:solidFill>
                  <a:srgbClr val="5A5A66"/>
                </a:solidFill>
                <a:latin typeface="Calibri"/>
              </a:rPr>
              <a:t>Demand scenarios derived from real trial 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72800" cy="731520"/>
          </a:xfrm>
          <a:prstGeom prst="rect">
            <a:avLst/>
          </a:prstGeom>
          <a:noFill/>
        </p:spPr>
        <p:txBody>
          <a:bodyPr wrap="square" anchor="t" lIns="0" rIns="0" tIns="0" bIns="0">
            <a:spAutoFit/>
          </a:bodyPr>
          <a:lstStyle/>
          <a:p>
            <a:pPr algn="l">
              <a:lnSpc>
                <a:spcPct val="105000"/>
              </a:lnSpc>
              <a:spcAft>
                <a:spcPts val="600"/>
              </a:spcAft>
            </a:pPr>
            <a:r>
              <a:rPr sz="3200" b="1" i="0">
                <a:solidFill>
                  <a:srgbClr val="1B1B3A"/>
                </a:solidFill>
                <a:latin typeface="Georgia"/>
              </a:rPr>
              <a:t>Approach — a reproducible robust-design pipeline</a:t>
            </a:r>
          </a:p>
        </p:txBody>
      </p:sp>
      <p:pic>
        <p:nvPicPr>
          <p:cNvPr id="3" name="Picture 2" descr="methodology_flow.png"/>
          <p:cNvPicPr>
            <a:picLocks noChangeAspect="1"/>
          </p:cNvPicPr>
          <p:nvPr/>
        </p:nvPicPr>
        <p:blipFill>
          <a:blip r:embed="rId2"/>
          <a:stretch>
            <a:fillRect/>
          </a:stretch>
        </p:blipFill>
        <p:spPr>
          <a:xfrm>
            <a:off x="2771854" y="1143000"/>
            <a:ext cx="6617811" cy="493776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731520"/>
          </a:xfrm>
          <a:prstGeom prst="rect">
            <a:avLst/>
          </a:prstGeom>
          <a:noFill/>
        </p:spPr>
        <p:txBody>
          <a:bodyPr wrap="square" anchor="t" lIns="0" rIns="0" tIns="0" bIns="0">
            <a:spAutoFit/>
          </a:bodyPr>
          <a:lstStyle/>
          <a:p>
            <a:pPr algn="l">
              <a:lnSpc>
                <a:spcPct val="105000"/>
              </a:lnSpc>
              <a:spcAft>
                <a:spcPts val="600"/>
              </a:spcAft>
            </a:pPr>
            <a:r>
              <a:rPr sz="3200" b="1" i="0">
                <a:solidFill>
                  <a:srgbClr val="1B1B3A"/>
                </a:solidFill>
                <a:latin typeface="Georgia"/>
              </a:rPr>
              <a:t>The result: robustness pays</a:t>
            </a:r>
          </a:p>
        </p:txBody>
      </p:sp>
      <p:pic>
        <p:nvPicPr>
          <p:cNvPr id="3" name="Picture 2" descr="02_pareto.png"/>
          <p:cNvPicPr>
            <a:picLocks noChangeAspect="1"/>
          </p:cNvPicPr>
          <p:nvPr/>
        </p:nvPicPr>
        <p:blipFill>
          <a:blip r:embed="rId2"/>
          <a:stretch>
            <a:fillRect/>
          </a:stretch>
        </p:blipFill>
        <p:spPr>
          <a:xfrm>
            <a:off x="548640" y="2026642"/>
            <a:ext cx="6766560" cy="3444794"/>
          </a:xfrm>
          <a:prstGeom prst="rect">
            <a:avLst/>
          </a:prstGeom>
        </p:spPr>
      </p:pic>
      <p:sp>
        <p:nvSpPr>
          <p:cNvPr id="4" name="TextBox 3"/>
          <p:cNvSpPr txBox="1"/>
          <p:nvPr/>
        </p:nvSpPr>
        <p:spPr>
          <a:xfrm>
            <a:off x="7589520" y="1554480"/>
            <a:ext cx="4206240" cy="822960"/>
          </a:xfrm>
          <a:prstGeom prst="rect">
            <a:avLst/>
          </a:prstGeom>
          <a:noFill/>
        </p:spPr>
        <p:txBody>
          <a:bodyPr wrap="square" anchor="t" lIns="0" rIns="0" tIns="0" bIns="0">
            <a:spAutoFit/>
          </a:bodyPr>
          <a:lstStyle/>
          <a:p>
            <a:pPr algn="l">
              <a:lnSpc>
                <a:spcPct val="105000"/>
              </a:lnSpc>
              <a:spcAft>
                <a:spcPts val="600"/>
              </a:spcAft>
            </a:pPr>
            <a:r>
              <a:rPr sz="4000" b="1" i="0">
                <a:solidFill>
                  <a:srgbClr val="43AA8B"/>
                </a:solidFill>
                <a:latin typeface="Georgia"/>
              </a:rPr>
              <a:t>-55%</a:t>
            </a:r>
          </a:p>
        </p:txBody>
      </p:sp>
      <p:sp>
        <p:nvSpPr>
          <p:cNvPr id="5" name="TextBox 4"/>
          <p:cNvSpPr txBox="1"/>
          <p:nvPr/>
        </p:nvSpPr>
        <p:spPr>
          <a:xfrm>
            <a:off x="7589520" y="2267712"/>
            <a:ext cx="4206240" cy="548640"/>
          </a:xfrm>
          <a:prstGeom prst="rect">
            <a:avLst/>
          </a:prstGeom>
          <a:noFill/>
        </p:spPr>
        <p:txBody>
          <a:bodyPr wrap="square" anchor="t" lIns="0" rIns="0" tIns="0" bIns="0">
            <a:spAutoFit/>
          </a:bodyPr>
          <a:lstStyle/>
          <a:p>
            <a:pPr algn="l">
              <a:lnSpc>
                <a:spcPct val="105000"/>
              </a:lnSpc>
              <a:spcAft>
                <a:spcPts val="600"/>
              </a:spcAft>
            </a:pPr>
            <a:r>
              <a:rPr sz="1250" b="0" i="0">
                <a:solidFill>
                  <a:srgbClr val="5A5A66"/>
                </a:solidFill>
                <a:latin typeface="Calibri"/>
              </a:rPr>
              <a:t>worst-case annual cost vs the naive design</a:t>
            </a:r>
          </a:p>
        </p:txBody>
      </p:sp>
      <p:sp>
        <p:nvSpPr>
          <p:cNvPr id="6" name="TextBox 5"/>
          <p:cNvSpPr txBox="1"/>
          <p:nvPr/>
        </p:nvSpPr>
        <p:spPr>
          <a:xfrm>
            <a:off x="7589520" y="2880360"/>
            <a:ext cx="4206240" cy="822960"/>
          </a:xfrm>
          <a:prstGeom prst="rect">
            <a:avLst/>
          </a:prstGeom>
          <a:noFill/>
        </p:spPr>
        <p:txBody>
          <a:bodyPr wrap="square" anchor="t" lIns="0" rIns="0" tIns="0" bIns="0">
            <a:spAutoFit/>
          </a:bodyPr>
          <a:lstStyle/>
          <a:p>
            <a:pPr algn="l">
              <a:lnSpc>
                <a:spcPct val="105000"/>
              </a:lnSpc>
              <a:spcAft>
                <a:spcPts val="600"/>
              </a:spcAft>
            </a:pPr>
            <a:r>
              <a:rPr sz="4000" b="1" i="0">
                <a:solidFill>
                  <a:srgbClr val="2E86AB"/>
                </a:solidFill>
                <a:latin typeface="Georgia"/>
              </a:rPr>
              <a:t>87% -&gt; 97%</a:t>
            </a:r>
          </a:p>
        </p:txBody>
      </p:sp>
      <p:sp>
        <p:nvSpPr>
          <p:cNvPr id="7" name="TextBox 6"/>
          <p:cNvSpPr txBox="1"/>
          <p:nvPr/>
        </p:nvSpPr>
        <p:spPr>
          <a:xfrm>
            <a:off x="7589520" y="3593591"/>
            <a:ext cx="4206240" cy="548640"/>
          </a:xfrm>
          <a:prstGeom prst="rect">
            <a:avLst/>
          </a:prstGeom>
          <a:noFill/>
        </p:spPr>
        <p:txBody>
          <a:bodyPr wrap="square" anchor="t" lIns="0" rIns="0" tIns="0" bIns="0">
            <a:spAutoFit/>
          </a:bodyPr>
          <a:lstStyle/>
          <a:p>
            <a:pPr algn="l">
              <a:lnSpc>
                <a:spcPct val="105000"/>
              </a:lnSpc>
              <a:spcAft>
                <a:spcPts val="600"/>
              </a:spcAft>
            </a:pPr>
            <a:r>
              <a:rPr sz="1250" b="0" i="0">
                <a:solidFill>
                  <a:srgbClr val="5A5A66"/>
                </a:solidFill>
                <a:latin typeface="Calibri"/>
              </a:rPr>
              <a:t>guaranteed fleet service, worst demand</a:t>
            </a:r>
          </a:p>
        </p:txBody>
      </p:sp>
      <p:sp>
        <p:nvSpPr>
          <p:cNvPr id="8" name="TextBox 7"/>
          <p:cNvSpPr txBox="1"/>
          <p:nvPr/>
        </p:nvSpPr>
        <p:spPr>
          <a:xfrm>
            <a:off x="7589520" y="4206240"/>
            <a:ext cx="4206240" cy="822960"/>
          </a:xfrm>
          <a:prstGeom prst="rect">
            <a:avLst/>
          </a:prstGeom>
          <a:noFill/>
        </p:spPr>
        <p:txBody>
          <a:bodyPr wrap="square" anchor="t" lIns="0" rIns="0" tIns="0" bIns="0">
            <a:spAutoFit/>
          </a:bodyPr>
          <a:lstStyle/>
          <a:p>
            <a:pPr algn="l">
              <a:lnSpc>
                <a:spcPct val="105000"/>
              </a:lnSpc>
              <a:spcAft>
                <a:spcPts val="600"/>
              </a:spcAft>
            </a:pPr>
            <a:r>
              <a:rPr sz="4000" b="1" i="0">
                <a:solidFill>
                  <a:srgbClr val="1B1B3A"/>
                </a:solidFill>
                <a:latin typeface="Georgia"/>
              </a:rPr>
              <a:t>£32,450/yr</a:t>
            </a:r>
          </a:p>
        </p:txBody>
      </p:sp>
      <p:sp>
        <p:nvSpPr>
          <p:cNvPr id="9" name="TextBox 8"/>
          <p:cNvSpPr txBox="1"/>
          <p:nvPr/>
        </p:nvSpPr>
        <p:spPr>
          <a:xfrm>
            <a:off x="7589520" y="4919472"/>
            <a:ext cx="4206240" cy="548640"/>
          </a:xfrm>
          <a:prstGeom prst="rect">
            <a:avLst/>
          </a:prstGeom>
          <a:noFill/>
        </p:spPr>
        <p:txBody>
          <a:bodyPr wrap="square" anchor="t" lIns="0" rIns="0" tIns="0" bIns="0">
            <a:spAutoFit/>
          </a:bodyPr>
          <a:lstStyle/>
          <a:p>
            <a:pPr algn="l">
              <a:lnSpc>
                <a:spcPct val="105000"/>
              </a:lnSpc>
              <a:spcAft>
                <a:spcPts val="600"/>
              </a:spcAft>
            </a:pPr>
            <a:r>
              <a:rPr sz="1250" b="0" i="0">
                <a:solidFill>
                  <a:srgbClr val="5A5A66"/>
                </a:solidFill>
                <a:latin typeface="Calibri"/>
              </a:rPr>
              <a:t>robust worst-case cost (down from £72,523)</a:t>
            </a:r>
          </a:p>
        </p:txBody>
      </p:sp>
      <p:sp>
        <p:nvSpPr>
          <p:cNvPr id="10" name="TextBox 9"/>
          <p:cNvSpPr txBox="1"/>
          <p:nvPr/>
        </p:nvSpPr>
        <p:spPr>
          <a:xfrm>
            <a:off x="7589520" y="5486400"/>
            <a:ext cx="4206240" cy="822960"/>
          </a:xfrm>
          <a:prstGeom prst="rect">
            <a:avLst/>
          </a:prstGeom>
          <a:noFill/>
        </p:spPr>
        <p:txBody>
          <a:bodyPr wrap="square" anchor="t" lIns="0" rIns="0" tIns="0" bIns="0">
            <a:spAutoFit/>
          </a:bodyPr>
          <a:lstStyle/>
          <a:p>
            <a:pPr algn="l">
              <a:lnSpc>
                <a:spcPct val="105000"/>
              </a:lnSpc>
              <a:spcAft>
                <a:spcPts val="600"/>
              </a:spcAft>
            </a:pPr>
            <a:r>
              <a:rPr sz="1200" b="0" i="1">
                <a:solidFill>
                  <a:srgbClr val="5A5A66"/>
                </a:solidFill>
                <a:latin typeface="Calibri"/>
              </a:rPr>
              <a:t>A small expected-cost premium buys large protection against the demand tail.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731520"/>
          </a:xfrm>
          <a:prstGeom prst="rect">
            <a:avLst/>
          </a:prstGeom>
          <a:noFill/>
        </p:spPr>
        <p:txBody>
          <a:bodyPr wrap="square" anchor="t" lIns="0" rIns="0" tIns="0" bIns="0">
            <a:spAutoFit/>
          </a:bodyPr>
          <a:lstStyle/>
          <a:p>
            <a:pPr algn="l">
              <a:lnSpc>
                <a:spcPct val="105000"/>
              </a:lnSpc>
              <a:spcAft>
                <a:spcPts val="600"/>
              </a:spcAft>
            </a:pPr>
            <a:r>
              <a:rPr sz="3200" b="1" i="0">
                <a:solidFill>
                  <a:srgbClr val="1B1B3A"/>
                </a:solidFill>
                <a:latin typeface="Georgia"/>
              </a:rPr>
              <a:t>Recommended robust station — Theme 2 in action</a:t>
            </a:r>
          </a:p>
        </p:txBody>
      </p:sp>
      <p:sp>
        <p:nvSpPr>
          <p:cNvPr id="3" name="Rounded Rectangle 2"/>
          <p:cNvSpPr/>
          <p:nvPr/>
        </p:nvSpPr>
        <p:spPr>
          <a:xfrm>
            <a:off x="640080" y="1371600"/>
            <a:ext cx="3017520" cy="384048"/>
          </a:xfrm>
          <a:prstGeom prst="roundRect">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FFFFFF"/>
                </a:solidFill>
                <a:latin typeface="Calibri"/>
              </a:rPr>
              <a:t>25 kWp solar PV</a:t>
            </a:r>
          </a:p>
        </p:txBody>
      </p:sp>
      <p:sp>
        <p:nvSpPr>
          <p:cNvPr id="4" name="Rounded Rectangle 3"/>
          <p:cNvSpPr/>
          <p:nvPr/>
        </p:nvSpPr>
        <p:spPr>
          <a:xfrm>
            <a:off x="3840480" y="1371600"/>
            <a:ext cx="3017520" cy="384048"/>
          </a:xfrm>
          <a:prstGeom prst="round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FFFFFF"/>
                </a:solidFill>
                <a:latin typeface="Calibri"/>
              </a:rPr>
              <a:t>50 kWh battery</a:t>
            </a:r>
          </a:p>
        </p:txBody>
      </p:sp>
      <p:sp>
        <p:nvSpPr>
          <p:cNvPr id="5" name="Rounded Rectangle 4"/>
          <p:cNvSpPr/>
          <p:nvPr/>
        </p:nvSpPr>
        <p:spPr>
          <a:xfrm>
            <a:off x="7040880" y="1371600"/>
            <a:ext cx="2743200" cy="384048"/>
          </a:xfrm>
          <a:prstGeom prst="roundRect">
            <a:avLst/>
          </a:prstGeom>
          <a:solidFill>
            <a:srgbClr val="43AA8B"/>
          </a:solidFill>
          <a:ln>
            <a:noFill/>
          </a:ln>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FFFFFF"/>
                </a:solidFill>
                <a:latin typeface="Calibri"/>
              </a:rPr>
              <a:t>8 charge points</a:t>
            </a:r>
          </a:p>
        </p:txBody>
      </p:sp>
      <p:pic>
        <p:nvPicPr>
          <p:cNvPr id="6" name="Picture 5" descr="07_energy_balance.png"/>
          <p:cNvPicPr>
            <a:picLocks noChangeAspect="1"/>
          </p:cNvPicPr>
          <p:nvPr/>
        </p:nvPicPr>
        <p:blipFill>
          <a:blip r:embed="rId2"/>
          <a:stretch>
            <a:fillRect/>
          </a:stretch>
        </p:blipFill>
        <p:spPr>
          <a:xfrm>
            <a:off x="1470659" y="2011680"/>
            <a:ext cx="9220200" cy="4023360"/>
          </a:xfrm>
          <a:prstGeom prst="rect">
            <a:avLst/>
          </a:prstGeom>
        </p:spPr>
      </p:pic>
      <p:sp>
        <p:nvSpPr>
          <p:cNvPr id="7" name="TextBox 6"/>
          <p:cNvSpPr txBox="1"/>
          <p:nvPr/>
        </p:nvSpPr>
        <p:spPr>
          <a:xfrm>
            <a:off x="731520" y="5989320"/>
            <a:ext cx="10698480" cy="457200"/>
          </a:xfrm>
          <a:prstGeom prst="rect">
            <a:avLst/>
          </a:prstGeom>
          <a:noFill/>
        </p:spPr>
        <p:txBody>
          <a:bodyPr wrap="square" anchor="t" lIns="0" rIns="0" tIns="0" bIns="0">
            <a:spAutoFit/>
          </a:bodyPr>
          <a:lstStyle/>
          <a:p>
            <a:pPr algn="ctr">
              <a:lnSpc>
                <a:spcPct val="105000"/>
              </a:lnSpc>
              <a:spcAft>
                <a:spcPts val="600"/>
              </a:spcAft>
            </a:pPr>
            <a:r>
              <a:rPr sz="1200" b="0" i="1">
                <a:solidFill>
                  <a:srgbClr val="5A5A66"/>
                </a:solidFill>
                <a:latin typeface="Calibri"/>
              </a:rPr>
              <a:t>Battery charges overnight and at midday, then discharges through the evening peak the capped grid cannot meet.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731520"/>
          </a:xfrm>
          <a:prstGeom prst="rect">
            <a:avLst/>
          </a:prstGeom>
          <a:noFill/>
        </p:spPr>
        <p:txBody>
          <a:bodyPr wrap="square" anchor="t" lIns="0" rIns="0" tIns="0" bIns="0">
            <a:spAutoFit/>
          </a:bodyPr>
          <a:lstStyle/>
          <a:p>
            <a:pPr algn="l">
              <a:lnSpc>
                <a:spcPct val="105000"/>
              </a:lnSpc>
              <a:spcAft>
                <a:spcPts val="600"/>
              </a:spcAft>
            </a:pPr>
            <a:r>
              <a:rPr sz="3200" b="1" i="0">
                <a:solidFill>
                  <a:srgbClr val="1B1B3A"/>
                </a:solidFill>
                <a:latin typeface="Georgia"/>
              </a:rPr>
              <a:t>Feasible today — and sustainable</a:t>
            </a:r>
          </a:p>
        </p:txBody>
      </p:sp>
      <p:sp>
        <p:nvSpPr>
          <p:cNvPr id="3" name="TextBox 2"/>
          <p:cNvSpPr txBox="1"/>
          <p:nvPr/>
        </p:nvSpPr>
        <p:spPr>
          <a:xfrm>
            <a:off x="731520" y="1554480"/>
            <a:ext cx="5486400" cy="822960"/>
          </a:xfrm>
          <a:prstGeom prst="rect">
            <a:avLst/>
          </a:prstGeom>
          <a:noFill/>
        </p:spPr>
        <p:txBody>
          <a:bodyPr wrap="square" anchor="t" lIns="0" rIns="0" tIns="0" bIns="0">
            <a:spAutoFit/>
          </a:bodyPr>
          <a:lstStyle/>
          <a:p>
            <a:pPr algn="l">
              <a:lnSpc>
                <a:spcPct val="105000"/>
              </a:lnSpc>
              <a:spcAft>
                <a:spcPts val="600"/>
              </a:spcAft>
            </a:pPr>
            <a:r>
              <a:rPr sz="4000" b="1" i="0">
                <a:solidFill>
                  <a:srgbClr val="1B1B3A"/>
                </a:solidFill>
                <a:latin typeface="Georgia"/>
              </a:rPr>
              <a:t>~£63,600</a:t>
            </a:r>
          </a:p>
        </p:txBody>
      </p:sp>
      <p:sp>
        <p:nvSpPr>
          <p:cNvPr id="4" name="TextBox 3"/>
          <p:cNvSpPr txBox="1"/>
          <p:nvPr/>
        </p:nvSpPr>
        <p:spPr>
          <a:xfrm>
            <a:off x="731520" y="2267712"/>
            <a:ext cx="5486400" cy="548640"/>
          </a:xfrm>
          <a:prstGeom prst="rect">
            <a:avLst/>
          </a:prstGeom>
          <a:noFill/>
        </p:spPr>
        <p:txBody>
          <a:bodyPr wrap="square" anchor="t" lIns="0" rIns="0" tIns="0" bIns="0">
            <a:spAutoFit/>
          </a:bodyPr>
          <a:lstStyle/>
          <a:p>
            <a:pPr algn="l">
              <a:lnSpc>
                <a:spcPct val="105000"/>
              </a:lnSpc>
              <a:spcAft>
                <a:spcPts val="600"/>
              </a:spcAft>
            </a:pPr>
            <a:r>
              <a:rPr sz="1250" b="0" i="0">
                <a:solidFill>
                  <a:srgbClr val="5A5A66"/>
                </a:solidFill>
                <a:latin typeface="Calibri"/>
              </a:rPr>
              <a:t>capital cost — off-the-shelf PV, Li-ion &amp; AC chargers</a:t>
            </a:r>
          </a:p>
        </p:txBody>
      </p:sp>
      <p:sp>
        <p:nvSpPr>
          <p:cNvPr id="5" name="TextBox 4"/>
          <p:cNvSpPr txBox="1"/>
          <p:nvPr/>
        </p:nvSpPr>
        <p:spPr>
          <a:xfrm>
            <a:off x="731520" y="2880360"/>
            <a:ext cx="5486400" cy="822960"/>
          </a:xfrm>
          <a:prstGeom prst="rect">
            <a:avLst/>
          </a:prstGeom>
          <a:noFill/>
        </p:spPr>
        <p:txBody>
          <a:bodyPr wrap="square" anchor="t" lIns="0" rIns="0" tIns="0" bIns="0">
            <a:spAutoFit/>
          </a:bodyPr>
          <a:lstStyle/>
          <a:p>
            <a:pPr algn="l">
              <a:lnSpc>
                <a:spcPct val="105000"/>
              </a:lnSpc>
              <a:spcAft>
                <a:spcPts val="600"/>
              </a:spcAft>
            </a:pPr>
            <a:r>
              <a:rPr sz="4000" b="1" i="0">
                <a:solidFill>
                  <a:srgbClr val="43AA8B"/>
                </a:solidFill>
                <a:latin typeface="Georgia"/>
              </a:rPr>
              <a:t>-66% CO2</a:t>
            </a:r>
          </a:p>
        </p:txBody>
      </p:sp>
      <p:sp>
        <p:nvSpPr>
          <p:cNvPr id="6" name="TextBox 5"/>
          <p:cNvSpPr txBox="1"/>
          <p:nvPr/>
        </p:nvSpPr>
        <p:spPr>
          <a:xfrm>
            <a:off x="731520" y="3593591"/>
            <a:ext cx="5486400" cy="548640"/>
          </a:xfrm>
          <a:prstGeom prst="rect">
            <a:avLst/>
          </a:prstGeom>
          <a:noFill/>
        </p:spPr>
        <p:txBody>
          <a:bodyPr wrap="square" anchor="t" lIns="0" rIns="0" tIns="0" bIns="0">
            <a:spAutoFit/>
          </a:bodyPr>
          <a:lstStyle/>
          <a:p>
            <a:pPr algn="l">
              <a:lnSpc>
                <a:spcPct val="105000"/>
              </a:lnSpc>
              <a:spcAft>
                <a:spcPts val="600"/>
              </a:spcAft>
            </a:pPr>
            <a:r>
              <a:rPr sz="1250" b="0" i="0">
                <a:solidFill>
                  <a:srgbClr val="5A5A66"/>
                </a:solidFill>
                <a:latin typeface="Calibri"/>
              </a:rPr>
              <a:t>vs grid-only charging (4.7 tCO2/yr saved)</a:t>
            </a:r>
          </a:p>
        </p:txBody>
      </p:sp>
      <p:sp>
        <p:nvSpPr>
          <p:cNvPr id="7" name="TextBox 6"/>
          <p:cNvSpPr txBox="1"/>
          <p:nvPr/>
        </p:nvSpPr>
        <p:spPr>
          <a:xfrm>
            <a:off x="731520" y="4206240"/>
            <a:ext cx="5486400" cy="822960"/>
          </a:xfrm>
          <a:prstGeom prst="rect">
            <a:avLst/>
          </a:prstGeom>
          <a:noFill/>
        </p:spPr>
        <p:txBody>
          <a:bodyPr wrap="square" anchor="t" lIns="0" rIns="0" tIns="0" bIns="0">
            <a:spAutoFit/>
          </a:bodyPr>
          <a:lstStyle/>
          <a:p>
            <a:pPr algn="l">
              <a:lnSpc>
                <a:spcPct val="105000"/>
              </a:lnSpc>
              <a:spcAft>
                <a:spcPts val="600"/>
              </a:spcAft>
            </a:pPr>
            <a:r>
              <a:rPr sz="4000" b="1" i="0">
                <a:solidFill>
                  <a:srgbClr val="2E86AB"/>
                </a:solidFill>
                <a:latin typeface="Georgia"/>
              </a:rPr>
              <a:t>7/7 validated</a:t>
            </a:r>
          </a:p>
        </p:txBody>
      </p:sp>
      <p:sp>
        <p:nvSpPr>
          <p:cNvPr id="8" name="TextBox 7"/>
          <p:cNvSpPr txBox="1"/>
          <p:nvPr/>
        </p:nvSpPr>
        <p:spPr>
          <a:xfrm>
            <a:off x="731520" y="4919472"/>
            <a:ext cx="5486400" cy="548640"/>
          </a:xfrm>
          <a:prstGeom prst="rect">
            <a:avLst/>
          </a:prstGeom>
          <a:noFill/>
        </p:spPr>
        <p:txBody>
          <a:bodyPr wrap="square" anchor="t" lIns="0" rIns="0" tIns="0" bIns="0">
            <a:spAutoFit/>
          </a:bodyPr>
          <a:lstStyle/>
          <a:p>
            <a:pPr algn="l">
              <a:lnSpc>
                <a:spcPct val="105000"/>
              </a:lnSpc>
              <a:spcAft>
                <a:spcPts val="600"/>
              </a:spcAft>
            </a:pPr>
            <a:r>
              <a:rPr sz="1250" b="0" i="0">
                <a:solidFill>
                  <a:srgbClr val="5A5A66"/>
                </a:solidFill>
                <a:latin typeface="Calibri"/>
              </a:rPr>
              <a:t>key outputs within published benchmark ranges; 1-command rebuild</a:t>
            </a:r>
          </a:p>
        </p:txBody>
      </p:sp>
      <p:pic>
        <p:nvPicPr>
          <p:cNvPr id="9" name="Picture 8" descr="08_energy_sources.png"/>
          <p:cNvPicPr>
            <a:picLocks noChangeAspect="1"/>
          </p:cNvPicPr>
          <p:nvPr/>
        </p:nvPicPr>
        <p:blipFill>
          <a:blip r:embed="rId2"/>
          <a:stretch>
            <a:fillRect/>
          </a:stretch>
        </p:blipFill>
        <p:spPr>
          <a:xfrm>
            <a:off x="6309360" y="2606040"/>
            <a:ext cx="5486400" cy="21945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1B3A"/>
        </a:solidFill>
        <a:effectLst/>
      </p:bgPr>
    </p:bg>
    <p:spTree>
      <p:nvGrpSpPr>
        <p:cNvPr id="1" name=""/>
        <p:cNvGrpSpPr/>
        <p:nvPr/>
      </p:nvGrpSpPr>
      <p:grpSpPr/>
      <p:sp>
        <p:nvSpPr>
          <p:cNvPr id="2" name="TextBox 1"/>
          <p:cNvSpPr txBox="1"/>
          <p:nvPr/>
        </p:nvSpPr>
        <p:spPr>
          <a:xfrm>
            <a:off x="822960" y="1097280"/>
            <a:ext cx="10515600" cy="731520"/>
          </a:xfrm>
          <a:prstGeom prst="rect">
            <a:avLst/>
          </a:prstGeom>
          <a:noFill/>
        </p:spPr>
        <p:txBody>
          <a:bodyPr wrap="square" anchor="t" lIns="0" rIns="0" tIns="0" bIns="0">
            <a:spAutoFit/>
          </a:bodyPr>
          <a:lstStyle/>
          <a:p>
            <a:pPr algn="l">
              <a:lnSpc>
                <a:spcPct val="105000"/>
              </a:lnSpc>
              <a:spcAft>
                <a:spcPts val="600"/>
              </a:spcAft>
            </a:pPr>
            <a:r>
              <a:rPr sz="3000" b="1" i="0">
                <a:solidFill>
                  <a:srgbClr val="F2B705"/>
                </a:solidFill>
                <a:latin typeface="Georgia"/>
              </a:rPr>
              <a:t>Original, authentic, reproducible</a:t>
            </a:r>
          </a:p>
        </p:txBody>
      </p:sp>
      <p:sp>
        <p:nvSpPr>
          <p:cNvPr id="3" name="TextBox 2"/>
          <p:cNvSpPr txBox="1"/>
          <p:nvPr/>
        </p:nvSpPr>
        <p:spPr>
          <a:xfrm>
            <a:off x="868680" y="2011680"/>
            <a:ext cx="10424160" cy="1463040"/>
          </a:xfrm>
          <a:prstGeom prst="rect">
            <a:avLst/>
          </a:prstGeom>
          <a:noFill/>
        </p:spPr>
        <p:txBody>
          <a:bodyPr wrap="square" anchor="t" lIns="0" rIns="0" tIns="0" bIns="0">
            <a:spAutoFit/>
          </a:bodyPr>
          <a:lstStyle/>
          <a:p>
            <a:pPr algn="l">
              <a:lnSpc>
                <a:spcPct val="115000"/>
              </a:lnSpc>
              <a:spcAft>
                <a:spcPts val="600"/>
              </a:spcAft>
            </a:pPr>
            <a:r>
              <a:rPr sz="1600" b="0" i="0">
                <a:solidFill>
                  <a:srgbClr val="FFFFFF"/>
                </a:solidFill>
                <a:latin typeface="Calibri"/>
              </a:rPr>
              <a:t>Every line of code and every figure is original, written from scratch. All three datasets are real: DfT e-scooter data (Open Government Licence), live PVGIS solar and National Grid ESO carbon intensity. Fixed seed, one-command rebuild, passing tests — built for the AI and plagiarism checks.</a:t>
            </a:r>
          </a:p>
        </p:txBody>
      </p:sp>
      <p:sp>
        <p:nvSpPr>
          <p:cNvPr id="4" name="Rectangle 3"/>
          <p:cNvSpPr/>
          <p:nvPr/>
        </p:nvSpPr>
        <p:spPr>
          <a:xfrm>
            <a:off x="868680" y="3977639"/>
            <a:ext cx="256032" cy="1097280"/>
          </a:xfrm>
          <a:prstGeom prst="rect">
            <a:avLst/>
          </a:prstGeom>
          <a:solidFill>
            <a:srgbClr val="43AA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4023360"/>
            <a:ext cx="10058400" cy="1097280"/>
          </a:xfrm>
          <a:prstGeom prst="rect">
            <a:avLst/>
          </a:prstGeom>
          <a:noFill/>
        </p:spPr>
        <p:txBody>
          <a:bodyPr wrap="square" anchor="t" lIns="0" rIns="0" tIns="0" bIns="0">
            <a:spAutoFit/>
          </a:bodyPr>
          <a:lstStyle/>
          <a:p>
            <a:pPr algn="l">
              <a:lnSpc>
                <a:spcPct val="110000"/>
              </a:lnSpc>
              <a:spcAft>
                <a:spcPts val="600"/>
              </a:spcAft>
            </a:pPr>
            <a:r>
              <a:rPr sz="2600" b="1" i="0">
                <a:solidFill>
                  <a:srgbClr val="FFFFFF"/>
                </a:solidFill>
                <a:latin typeface="Georgia"/>
              </a:rPr>
              <a:t>We turn demand uncertainty from a risk</a:t>
            </a:r>
          </a:p>
          <a:p>
            <a:pPr algn="l">
              <a:lnSpc>
                <a:spcPct val="110000"/>
              </a:lnSpc>
              <a:spcAft>
                <a:spcPts val="600"/>
              </a:spcAft>
            </a:pPr>
            <a:r>
              <a:rPr sz="2600" b="1" i="0">
                <a:solidFill>
                  <a:srgbClr val="F2B705"/>
                </a:solidFill>
                <a:latin typeface="Georgia"/>
              </a:rPr>
              <a:t>into a design input — and show that robustness pays.</a:t>
            </a:r>
          </a:p>
        </p:txBody>
      </p:sp>
      <p:sp>
        <p:nvSpPr>
          <p:cNvPr id="6" name="TextBox 5"/>
          <p:cNvSpPr txBox="1"/>
          <p:nvPr/>
        </p:nvSpPr>
        <p:spPr>
          <a:xfrm>
            <a:off x="868680" y="5943600"/>
            <a:ext cx="10424160" cy="457200"/>
          </a:xfrm>
          <a:prstGeom prst="rect">
            <a:avLst/>
          </a:prstGeom>
          <a:noFill/>
        </p:spPr>
        <p:txBody>
          <a:bodyPr wrap="square" anchor="t" lIns="0" rIns="0" tIns="0" bIns="0">
            <a:spAutoFit/>
          </a:bodyPr>
          <a:lstStyle/>
          <a:p>
            <a:pPr algn="l">
              <a:lnSpc>
                <a:spcPct val="105000"/>
              </a:lnSpc>
              <a:spcAft>
                <a:spcPts val="600"/>
              </a:spcAft>
            </a:pPr>
            <a:r>
              <a:rPr sz="1600" b="0" i="1">
                <a:solidFill>
                  <a:srgbClr val="CADCFC"/>
                </a:solidFill>
                <a:latin typeface="Calibri"/>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