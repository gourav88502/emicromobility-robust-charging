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[Slide 1]  Good morning. Instead of asking how large a charger should be for average demand, our prototype asks what design still works when demand, grid limits and future growth change. A hub sized for the average strands bikes on busy days; an oversized one wastes capital. We answer this with robust optimisation on open data - and in three minutes you will see it run live.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[Slide 2]  The method in one breath. Demand is calibrated to the UoW Bikes use case from open shared-micromobility evidence; solar comes from PVGIS for Coventry and grid carbon from National Grid ESO. Every candidate hub is simulated over all eight thousand seven hundred and sixty hours of a year. One hundred and fifty designs are scored across fifteen futures under five decision rules - and we recommend the one that still performs well when the future is worse than expected.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[Slide 3]  The recommended design is 15 kilowatt-peak of solar, zero kilowatt-hours of battery, and 8 smart-managed bays. Twenty-nine thousand four hundred pounds of capital, twenty-five pence per kilowatt-hour delivered, and three point seven tonnes of CO2 avoided each year. The reason there is no battery: a returned bike only needs to be ready by morning, so smart charging schedules the energy into sunny and off-peak hours and the load never breaks the fifteen-kilowatt connection.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[Slide 4]  What does robustness buy? The average-demand design looks cheapest on a normal day, but in the worst demand future its cost reaches forty-seven thousand pounds a year and it strands one bike in twenty-one. The robust design cuts that worst case by nearly sixty percent and lifts guaranteed service from ninety-five point three to ninety-nine point six percent. And we stress-tested the conclusion itself: it held in one hundred percent of thirty-five assumption combinations.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[Slide 5]  This result is not anti-battery. It shows that for a connected Warwick campus hub, smart charging gives the required robustness without extra battery cost, degradation or material impact. We swept the grid connection to find exactly where that changes: at roughly eight to ten kilowatts, storage starts entering the optimal design - and there we specify LFP chemistry with second-life reuse. The most sustainable battery is sometimes the one you do not need to install.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[Slide 6]  That is the argument - now the prototype makes it live: the full model runs in the browser, checks itself against our Python pipeline, and works offline. Watch four things: the recommendation recomputed in front of you; the average-demand design failing where the robust one holds; a battery entering the design when the grid weakens to eight kilowatts; and the validation behind every number. Over to the demo.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240280"/>
            <a:ext cx="256032" cy="1371600"/>
          </a:xfrm>
          <a:prstGeom prst="rect">
            <a:avLst/>
          </a:prstGeom>
          <a:solidFill>
            <a:srgbClr val="F2B7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23444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3600" b="1" i="0">
                <a:solidFill>
                  <a:srgbClr val="FFFFFF"/>
                </a:solidFill>
                <a:latin typeface="Georgia"/>
              </a:rPr>
              <a:t>Which solar charging hub should Warwick build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3600" b="1" i="0">
                <a:solidFill>
                  <a:srgbClr val="F2B705"/>
                </a:solidFill>
                <a:latin typeface="Georgia"/>
              </a:rPr>
              <a:t>when e-bike demand is uncertain?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154680"/>
            <a:ext cx="104241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00" b="0" i="0">
                <a:solidFill>
                  <a:srgbClr val="FFFFFF"/>
                </a:solidFill>
                <a:latin typeface="Calibri"/>
              </a:rPr>
              <a:t>Size a hub for average demand and it strands bikes on busy days. Oversize it and capital sits idle.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00" b="0" i="0">
                <a:solidFill>
                  <a:srgbClr val="CADCFC"/>
                </a:solidFill>
                <a:latin typeface="Calibri"/>
              </a:rPr>
              <a:t>Our prototype asks a sharper question: which design still works when demand, grid limits and growth change?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80" y="4434840"/>
            <a:ext cx="2926080" cy="384048"/>
          </a:xfrm>
          <a:prstGeom prst="roundRect">
            <a:avLst/>
          </a:prstGeom>
          <a:solidFill>
            <a:srgbClr val="43AA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50" b="1">
                <a:solidFill>
                  <a:srgbClr val="FFFFFF"/>
                </a:solidFill>
                <a:latin typeface="Calibri"/>
              </a:rPr>
              <a:t>Theme 3 - solar charging station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977639" y="4434840"/>
            <a:ext cx="3291840" cy="384048"/>
          </a:xfrm>
          <a:prstGeom prst="round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50" b="1">
                <a:solidFill>
                  <a:srgbClr val="FFFFFF"/>
                </a:solidFill>
                <a:latin typeface="Calibri"/>
              </a:rPr>
              <a:t>Theme 2 - charge/discharge profiles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52360" y="4434840"/>
            <a:ext cx="2926080" cy="384048"/>
          </a:xfrm>
          <a:prstGeom prst="roundRect">
            <a:avLst/>
          </a:prstGeom>
          <a:solidFill>
            <a:srgbClr val="F2B7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50" b="1">
                <a:solidFill>
                  <a:srgbClr val="FFFFFF"/>
                </a:solidFill>
                <a:latin typeface="Calibri"/>
              </a:rPr>
              <a:t>Live in-browser prototype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257800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Team SolarCycle - Gourav Singh, Neelesh Raj, Priti Burud (Newcastle University)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5760720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0" i="0">
                <a:solidFill>
                  <a:srgbClr val="CADCFC"/>
                </a:solidFill>
                <a:latin typeface="Calibri"/>
              </a:rPr>
              <a:t>Sustainable e-Micromobility Stakeholder Engagement Workshop - WMG, University of Warwick - 6 July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 i="0">
                <a:solidFill>
                  <a:srgbClr val="1B1B3A"/>
                </a:solidFill>
                <a:latin typeface="Georgia"/>
              </a:rPr>
              <a:t>Method: open data, one full year, every design, five decision rules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5156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50" b="0" i="1">
                <a:solidFill>
                  <a:srgbClr val="5A5A66"/>
                </a:solidFill>
                <a:latin typeface="Calibri"/>
              </a:rPr>
              <a:t>The model chooses the design that still performs well when the future is worse than expected.</a:t>
            </a:r>
          </a:p>
        </p:txBody>
      </p:sp>
      <p:pic>
        <p:nvPicPr>
          <p:cNvPr id="4" name="Picture 3" descr="methodology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78234" y="1600200"/>
            <a:ext cx="6005051" cy="4480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7220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200" b="1" i="0">
                <a:solidFill>
                  <a:srgbClr val="2E86AB"/>
                </a:solidFill>
                <a:latin typeface="Calibri"/>
              </a:rPr>
              <a:t>UoW e-bike demand  &gt;  Coventry solar (PVGIS)  &gt;  West Midlands carbon (ESO)  &gt;  8,760-hour simulation  &gt;  150 designs  &gt;  5 decision rules  &gt;  robust recommendation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900" b="1" i="0">
                <a:solidFill>
                  <a:srgbClr val="1B1B3A"/>
                </a:solidFill>
                <a:latin typeface="Georgia"/>
              </a:rPr>
              <a:t>The recommendation: 15 kWp solar - 0 kWh battery - 8 smart bays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371600"/>
            <a:ext cx="10972800" cy="1371600"/>
          </a:xfrm>
          <a:prstGeom prst="roundRect">
            <a:avLst/>
          </a:prstGeom>
          <a:solidFill>
            <a:srgbClr val="1B1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627632"/>
            <a:ext cx="34747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4000" b="1" i="0">
                <a:solidFill>
                  <a:srgbClr val="F2B705"/>
                </a:solidFill>
                <a:latin typeface="Georgia"/>
              </a:rPr>
              <a:t>15 kWp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 i="0">
                <a:solidFill>
                  <a:srgbClr val="CADCFC"/>
                </a:solidFill>
                <a:latin typeface="Calibri"/>
              </a:rPr>
              <a:t>solar PV array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0" y="1627632"/>
            <a:ext cx="34747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4000" b="1" i="0">
                <a:solidFill>
                  <a:srgbClr val="F2B705"/>
                </a:solidFill>
                <a:latin typeface="Georgia"/>
              </a:rPr>
              <a:t>0 kWh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 i="0">
                <a:solidFill>
                  <a:srgbClr val="CADCFC"/>
                </a:solidFill>
                <a:latin typeface="Calibri"/>
              </a:rPr>
              <a:t>battery - smart charging replaces it here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1627632"/>
            <a:ext cx="3200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4000" b="1" i="0">
                <a:solidFill>
                  <a:srgbClr val="F2B705"/>
                </a:solidFill>
                <a:latin typeface="Georgia"/>
              </a:rPr>
              <a:t>8 bays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 i="0">
                <a:solidFill>
                  <a:srgbClr val="CADCFC"/>
                </a:solidFill>
                <a:latin typeface="Calibri"/>
              </a:rPr>
              <a:t>smart-managed 3 kW charging bays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200400"/>
            <a:ext cx="3657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3000" b="1" i="0">
                <a:solidFill>
                  <a:srgbClr val="1B1B3A"/>
                </a:solidFill>
                <a:latin typeface="Georgia"/>
              </a:rPr>
              <a:t>GBP 29,400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796747"/>
            <a:ext cx="3657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50" b="0" i="0">
                <a:solidFill>
                  <a:srgbClr val="5A5A66"/>
                </a:solidFill>
                <a:latin typeface="Calibri"/>
              </a:rPr>
              <a:t>capital cost - off-the-shelf PV and AC bays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3200400"/>
            <a:ext cx="3657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3000" b="1" i="0">
                <a:solidFill>
                  <a:srgbClr val="2E86AB"/>
                </a:solidFill>
                <a:latin typeface="Georgia"/>
              </a:rPr>
              <a:t>GBP 0.253/kWh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3796747"/>
            <a:ext cx="3657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50" b="0" i="0">
                <a:solidFill>
                  <a:srgbClr val="5A5A66"/>
                </a:solidFill>
                <a:latin typeface="Calibri"/>
              </a:rPr>
              <a:t>levelised cost of delivered energy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3200400"/>
            <a:ext cx="32918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3000" b="1" i="0">
                <a:solidFill>
                  <a:srgbClr val="43AA8B"/>
                </a:solidFill>
                <a:latin typeface="Georgia"/>
              </a:rPr>
              <a:t>3.7 tCO2/yr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3796747"/>
            <a:ext cx="3291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50" b="0" i="0">
                <a:solidFill>
                  <a:srgbClr val="5A5A66"/>
                </a:solidFill>
                <a:latin typeface="Calibri"/>
              </a:rPr>
              <a:t>avoided vs grid-only charging (15%, marginal basis)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572000"/>
            <a:ext cx="3657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3000" b="1" i="0">
                <a:solidFill>
                  <a:srgbClr val="43AA8B"/>
                </a:solidFill>
                <a:latin typeface="Georgia"/>
              </a:rPr>
              <a:t>99.6%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5168347"/>
            <a:ext cx="3657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50" b="0" i="0">
                <a:solidFill>
                  <a:srgbClr val="5A5A66"/>
                </a:solidFill>
                <a:latin typeface="Calibri"/>
              </a:rPr>
              <a:t>fleet service guaranteed in the worst future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4572000"/>
            <a:ext cx="3657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3000" b="1" i="0">
                <a:solidFill>
                  <a:srgbClr val="1B1B3A"/>
                </a:solidFill>
                <a:latin typeface="Georgia"/>
              </a:rPr>
              <a:t>GBP 19,232/yr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5168347"/>
            <a:ext cx="3657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50" b="0" i="0">
                <a:solidFill>
                  <a:srgbClr val="5A5A66"/>
                </a:solidFill>
                <a:latin typeface="Calibri"/>
              </a:rPr>
              <a:t>worst-case annual cost, all futures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20" y="4617720"/>
            <a:ext cx="32918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0" i="0">
                <a:solidFill>
                  <a:srgbClr val="5A5A66"/>
                </a:solidFill>
                <a:latin typeface="Calibri"/>
              </a:rPr>
              <a:t>Smart charging schedules flexible charging into sunny, cheap off-peak hours - the load stays under the 15 kW connection without storage.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900" b="1" i="0">
                <a:solidFill>
                  <a:srgbClr val="1B1B3A"/>
                </a:solidFill>
                <a:latin typeface="Georgia"/>
              </a:rPr>
              <a:t>Robust vs average-demand design - what uncertainty costs</a:t>
            </a:r>
          </a:p>
        </p:txBody>
      </p:sp>
      <p:pic>
        <p:nvPicPr>
          <p:cNvPr id="3" name="Picture 2" descr="02_pare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80922"/>
            <a:ext cx="6766560" cy="344479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589520" y="1463040"/>
            <a:ext cx="4206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4000" b="1" i="0">
                <a:solidFill>
                  <a:srgbClr val="43AA8B"/>
                </a:solidFill>
                <a:latin typeface="Georgia"/>
              </a:rPr>
              <a:t>-59.2%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0" y="2258170"/>
            <a:ext cx="4206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50" b="0" i="0">
                <a:solidFill>
                  <a:srgbClr val="5A5A66"/>
                </a:solidFill>
                <a:latin typeface="Calibri"/>
              </a:rPr>
              <a:t>worst-case annual cost vs the average-demand design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89520" y="2743200"/>
            <a:ext cx="4206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4000" b="1" i="0">
                <a:solidFill>
                  <a:srgbClr val="2E86AB"/>
                </a:solidFill>
                <a:latin typeface="Georgia"/>
              </a:rPr>
              <a:t>95.3% -&gt; 99.6%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0" y="3538330"/>
            <a:ext cx="4206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50" b="0" i="0">
                <a:solidFill>
                  <a:srgbClr val="5A5A66"/>
                </a:solidFill>
                <a:latin typeface="Calibri"/>
              </a:rPr>
              <a:t>guaranteed fleet service in the worst future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0" y="4023360"/>
            <a:ext cx="4206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3000" b="1" i="0">
                <a:solidFill>
                  <a:srgbClr val="1B1B3A"/>
                </a:solidFill>
                <a:latin typeface="Georgia"/>
              </a:rPr>
              <a:t>100% of 35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4619707"/>
            <a:ext cx="4206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50" b="0" i="0">
                <a:solidFill>
                  <a:srgbClr val="5A5A66"/>
                </a:solidFill>
                <a:latin typeface="Calibri"/>
              </a:rPr>
              <a:t>stress-test combinations in which the conclusion held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0" y="5029200"/>
            <a:ext cx="42062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 i="0">
                <a:solidFill>
                  <a:srgbClr val="5A5A66"/>
                </a:solidFill>
                <a:latin typeface="Calibri"/>
              </a:rPr>
              <a:t>Same 500-run Monte-Carlo, Sobol sensitivity and penalty x grid x horizon sweep behind every number.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900" b="1" i="0">
                <a:solidFill>
                  <a:srgbClr val="1B1B3A"/>
                </a:solidFill>
                <a:latin typeface="Georgia"/>
              </a:rPr>
              <a:t>When does a battery pay? Only when the grid is weak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2057400"/>
            <a:ext cx="566928" cy="2103120"/>
          </a:xfrm>
          <a:prstGeom prst="roundRect">
            <a:avLst/>
          </a:prstGeom>
          <a:solidFill>
            <a:srgbClr val="43AA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1746504"/>
            <a:ext cx="74980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200" b="1" i="0">
                <a:solidFill>
                  <a:srgbClr val="43AA8B"/>
                </a:solidFill>
                <a:latin typeface="Calibri"/>
              </a:rPr>
              <a:t>50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4233672"/>
            <a:ext cx="74980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100" b="0" i="0">
                <a:solidFill>
                  <a:srgbClr val="5A5A66"/>
                </a:solidFill>
                <a:latin typeface="Calibri"/>
              </a:rPr>
              <a:t>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645920" y="2057400"/>
            <a:ext cx="566928" cy="2103120"/>
          </a:xfrm>
          <a:prstGeom prst="roundRect">
            <a:avLst/>
          </a:prstGeom>
          <a:solidFill>
            <a:srgbClr val="43AA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72768" y="1746504"/>
            <a:ext cx="74980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200" b="1" i="0">
                <a:solidFill>
                  <a:srgbClr val="43AA8B"/>
                </a:solidFill>
                <a:latin typeface="Calibri"/>
              </a:rPr>
              <a:t>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72768" y="4233672"/>
            <a:ext cx="74980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100" b="0" i="0">
                <a:solidFill>
                  <a:srgbClr val="5A5A66"/>
                </a:solidFill>
                <a:latin typeface="Calibri"/>
              </a:rPr>
              <a:t>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468880" y="3319272"/>
            <a:ext cx="566928" cy="841247"/>
          </a:xfrm>
          <a:prstGeom prst="roundRect">
            <a:avLst/>
          </a:prstGeom>
          <a:solidFill>
            <a:srgbClr val="43AA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395728" y="3008376"/>
            <a:ext cx="74980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200" b="1" i="0">
                <a:solidFill>
                  <a:srgbClr val="43AA8B"/>
                </a:solidFill>
                <a:latin typeface="Calibri"/>
              </a:rPr>
              <a:t>20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95728" y="4233672"/>
            <a:ext cx="74980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100" b="0" i="0">
                <a:solidFill>
                  <a:srgbClr val="5A5A66"/>
                </a:solidFill>
                <a:latin typeface="Calibri"/>
              </a:rPr>
              <a:t>8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91840" y="4105656"/>
            <a:ext cx="566928" cy="54864"/>
          </a:xfrm>
          <a:prstGeom prst="roundRect">
            <a:avLst/>
          </a:prstGeom>
          <a:solidFill>
            <a:srgbClr val="D9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18688" y="4233672"/>
            <a:ext cx="74980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100" b="0" i="0">
                <a:solidFill>
                  <a:srgbClr val="5A5A66"/>
                </a:solidFill>
                <a:latin typeface="Calibri"/>
              </a:rPr>
              <a:t>10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0" y="4105656"/>
            <a:ext cx="566928" cy="54864"/>
          </a:xfrm>
          <a:prstGeom prst="roundRect">
            <a:avLst/>
          </a:prstGeom>
          <a:solidFill>
            <a:srgbClr val="D9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041648" y="4233672"/>
            <a:ext cx="74980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100" b="0" i="0">
                <a:solidFill>
                  <a:srgbClr val="5A5A66"/>
                </a:solidFill>
                <a:latin typeface="Calibri"/>
              </a:rPr>
              <a:t>12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937760" y="4105656"/>
            <a:ext cx="566928" cy="54864"/>
          </a:xfrm>
          <a:prstGeom prst="roundRect">
            <a:avLst/>
          </a:prstGeom>
          <a:solidFill>
            <a:srgbClr val="D9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64608" y="4233672"/>
            <a:ext cx="74980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100" b="0" i="0">
                <a:solidFill>
                  <a:srgbClr val="5A5A66"/>
                </a:solidFill>
                <a:latin typeface="Calibri"/>
              </a:rPr>
              <a:t>15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760720" y="4105656"/>
            <a:ext cx="566928" cy="54864"/>
          </a:xfrm>
          <a:prstGeom prst="roundRect">
            <a:avLst/>
          </a:prstGeom>
          <a:solidFill>
            <a:srgbClr val="D9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87568" y="4233672"/>
            <a:ext cx="74980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100" b="0" i="0">
                <a:solidFill>
                  <a:srgbClr val="5A5A66"/>
                </a:solidFill>
                <a:latin typeface="Calibri"/>
              </a:rPr>
              <a:t>18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0" y="4105656"/>
            <a:ext cx="566928" cy="54864"/>
          </a:xfrm>
          <a:prstGeom prst="roundRect">
            <a:avLst/>
          </a:prstGeom>
          <a:solidFill>
            <a:srgbClr val="D9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10528" y="4233672"/>
            <a:ext cx="74980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100" b="0" i="0">
                <a:solidFill>
                  <a:srgbClr val="5A5A66"/>
                </a:solidFill>
                <a:latin typeface="Calibri"/>
              </a:rPr>
              <a:t>20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4544568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100" b="0" i="1">
                <a:solidFill>
                  <a:srgbClr val="5A5A66"/>
                </a:solidFill>
                <a:latin typeface="Calibri"/>
              </a:rPr>
              <a:t>grid connection limit (kW)  -  bars show battery kWh in the robust design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1371600"/>
            <a:ext cx="6583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600" b="1" i="0">
                <a:solidFill>
                  <a:srgbClr val="1B1B3A"/>
                </a:solidFill>
                <a:latin typeface="Calibri"/>
              </a:rPr>
              <a:t>Battery enters the optimal design at &lt;= 8 kW and is gone by 10 kW.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35240" y="1371600"/>
            <a:ext cx="4023360" cy="4754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300" b="1" i="0">
                <a:solidFill>
                  <a:srgbClr val="1B1B3A"/>
                </a:solidFill>
                <a:latin typeface="Calibri"/>
              </a:rPr>
              <a:t>Not an anti-battery result.  </a:t>
            </a:r>
            <a:r>
              <a:rPr sz="1300" b="0" i="0">
                <a:solidFill>
                  <a:srgbClr val="22222A"/>
                </a:solidFill>
                <a:latin typeface="Calibri"/>
              </a:rPr>
              <a:t>For a connected campus hub, smart charging gives the required robustness without battery cost, degradation or material impact.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300" b="1" i="0">
                <a:solidFill>
                  <a:srgbClr val="1B1B3A"/>
                </a:solidFill>
                <a:latin typeface="Calibri"/>
              </a:rPr>
              <a:t>Conditional storage.  </a:t>
            </a:r>
            <a:r>
              <a:rPr sz="1300" b="0" i="0">
                <a:solidFill>
                  <a:srgbClr val="22222A"/>
                </a:solidFill>
                <a:latin typeface="Calibri"/>
              </a:rPr>
              <a:t>When the connection weakens to roughly 8-10 kW, the model starts recommending storage.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300" b="1" i="0">
                <a:solidFill>
                  <a:srgbClr val="1B1B3A"/>
                </a:solidFill>
                <a:latin typeface="Calibri"/>
              </a:rPr>
              <a:t>LFP where needed.  </a:t>
            </a:r>
            <a:r>
              <a:rPr sz="1300" b="0" i="0">
                <a:solidFill>
                  <a:srgbClr val="22222A"/>
                </a:solidFill>
                <a:latin typeface="Calibri"/>
              </a:rPr>
              <a:t>Cobalt- and nickel-free chemistry, long cycle life; second-life reuse and recycling planned for weak-grid sites.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300" b="1" i="0">
                <a:solidFill>
                  <a:srgbClr val="1B1B3A"/>
                </a:solidFill>
                <a:latin typeface="Calibri"/>
              </a:rPr>
              <a:t>Avoided impact.  </a:t>
            </a:r>
            <a:r>
              <a:rPr sz="1300" b="0" i="0">
                <a:solidFill>
                  <a:srgbClr val="22222A"/>
                </a:solidFill>
                <a:latin typeface="Calibri"/>
              </a:rPr>
              <a:t>Skipping an unnecessary pack avoids its materials and manufacturing footprint entirely.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5120640"/>
            <a:ext cx="6583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600" b="1" i="1">
                <a:solidFill>
                  <a:srgbClr val="43AA8B"/>
                </a:solidFill>
                <a:latin typeface="Calibri"/>
              </a:rPr>
              <a:t>“The most sustainable battery is sometimes the one you do not need to install.”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9436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3400" b="1" i="0">
                <a:solidFill>
                  <a:srgbClr val="F2B705"/>
                </a:solidFill>
                <a:latin typeface="Georgia"/>
              </a:rPr>
              <a:t>Now - the prototype itself, live</a:t>
            </a:r>
          </a:p>
        </p:txBody>
      </p:sp>
      <p:sp>
        <p:nvSpPr>
          <p:cNvPr id="3" name="Oval 2"/>
          <p:cNvSpPr/>
          <p:nvPr/>
        </p:nvSpPr>
        <p:spPr>
          <a:xfrm>
            <a:off x="868680" y="1600200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800">
                <a:solidFill>
                  <a:srgbClr val="1B1B3A"/>
                </a:solidFill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54480" y="1563624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650" b="1" i="0">
                <a:solidFill>
                  <a:srgbClr val="FFFFFF"/>
                </a:solidFill>
                <a:latin typeface="Calibri"/>
              </a:rPr>
              <a:t>The recommendation, computed in front of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54480" y="1929384"/>
            <a:ext cx="6035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0" i="0">
                <a:solidFill>
                  <a:srgbClr val="CADCFC"/>
                </a:solidFill>
                <a:latin typeface="Calibri"/>
              </a:rPr>
              <a:t>the browser re-runs the full 150-design optimisation in about a second</a:t>
            </a:r>
          </a:p>
        </p:txBody>
      </p:sp>
      <p:sp>
        <p:nvSpPr>
          <p:cNvPr id="6" name="Oval 5"/>
          <p:cNvSpPr/>
          <p:nvPr/>
        </p:nvSpPr>
        <p:spPr>
          <a:xfrm>
            <a:off x="868680" y="2532888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800">
                <a:solidFill>
                  <a:srgbClr val="1B1B3A"/>
                </a:solidFill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2496312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650" b="1" i="0">
                <a:solidFill>
                  <a:srgbClr val="FFFFFF"/>
                </a:solidFill>
                <a:latin typeface="Calibri"/>
              </a:rPr>
              <a:t>Break it, then fix 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862072"/>
            <a:ext cx="6035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0" i="0">
                <a:solidFill>
                  <a:srgbClr val="CADCFC"/>
                </a:solidFill>
                <a:latin typeface="Calibri"/>
              </a:rPr>
              <a:t>the average-demand design goes red at peaks; the robust design holds at 99.6%</a:t>
            </a:r>
          </a:p>
        </p:txBody>
      </p:sp>
      <p:sp>
        <p:nvSpPr>
          <p:cNvPr id="9" name="Oval 8"/>
          <p:cNvSpPr/>
          <p:nvPr/>
        </p:nvSpPr>
        <p:spPr>
          <a:xfrm>
            <a:off x="868680" y="3465576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800">
                <a:solidFill>
                  <a:srgbClr val="1B1B3A"/>
                </a:solidFill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3429000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650" b="1" i="0">
                <a:solidFill>
                  <a:srgbClr val="FFFFFF"/>
                </a:solidFill>
                <a:latin typeface="Calibri"/>
              </a:rPr>
              <a:t>The battery threshold, proven live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3794760"/>
            <a:ext cx="6035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0" i="0">
                <a:solidFill>
                  <a:srgbClr val="CADCFC"/>
                </a:solidFill>
                <a:latin typeface="Calibri"/>
              </a:rPr>
              <a:t>weaken the grid to 8 kW and storage enters the optimal design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4398264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800">
                <a:solidFill>
                  <a:srgbClr val="1B1B3A"/>
                </a:solidFill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4361688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650" b="1" i="0">
                <a:solidFill>
                  <a:srgbClr val="FFFFFF"/>
                </a:solidFill>
                <a:latin typeface="Calibri"/>
              </a:rPr>
              <a:t>Validated and reproducible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4727448"/>
            <a:ext cx="6035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0" i="0">
                <a:solidFill>
                  <a:srgbClr val="CADCFC"/>
                </a:solidFill>
                <a:latin typeface="Calibri"/>
              </a:rPr>
              <a:t>9/9 checks in published ranges; browser matches the Python pipeline; one command rebuilds everything</a:t>
            </a:r>
          </a:p>
        </p:txBody>
      </p:sp>
      <p:pic>
        <p:nvPicPr>
          <p:cNvPr id="15" name="Picture 14" descr="_demo_q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1600200"/>
            <a:ext cx="2194560" cy="219456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275320" y="3886200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100" b="0" i="0">
                <a:solidFill>
                  <a:srgbClr val="CADCFC"/>
                </a:solidFill>
                <a:latin typeface="Calibri"/>
              </a:rPr>
              <a:t>scan to open on your phone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20" y="4343400"/>
            <a:ext cx="3108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200" b="1" i="0">
                <a:solidFill>
                  <a:srgbClr val="F2B705"/>
                </a:solidFill>
                <a:latin typeface="Calibri"/>
              </a:rPr>
              <a:t>gourav88502.github.io/emicromobility-robust-charging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68680" y="5440680"/>
            <a:ext cx="256032" cy="868680"/>
          </a:xfrm>
          <a:prstGeom prst="rect">
            <a:avLst/>
          </a:prstGeom>
          <a:solidFill>
            <a:srgbClr val="43AA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80160" y="548640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900" b="1" i="0">
                <a:solidFill>
                  <a:srgbClr val="FFFFFF"/>
                </a:solidFill>
                <a:latin typeface="Georgia"/>
              </a:rPr>
              <a:t>The prototype turns uncertain e-bike demand into a clear infrastructure decision: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900" b="1" i="0">
                <a:solidFill>
                  <a:srgbClr val="F2B705"/>
                </a:solidFill>
                <a:latin typeface="Georgia"/>
              </a:rPr>
              <a:t>how much solar, whether a battery is needed, and how many smart bays to install.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