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1]  Charging infrastructure for shared e-bikes hides a trap. Size a solar station for average demand and it collapses at peaks; size it for the worst case and capital sits idle. Our project asks the sharper question: which station do you build when the future is uncertain? We answer it with robust optimisation, grounded in real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2]  Our hub is a depot charging a mixed fleet whose demand swings with season, weather and growth, behind a constrained grid connection — a bigger import limit needs a costly network reinforcement, so the evening peak must come from on-site solar and storage. We built Low, Medium and High scenarios from real DfT shared-micromobility monitoring data, adapted to a UoW e-bike scheme: real seasonality, usage and trip distance. The demand range is observed, not assumed.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3]  The pipeline is fully reproducible. From fifteen demand scenarios we run an eight-thousand-seven-hundred-and-sixty-hour energy balance for every candidate hub: solar, to battery, to a capped grid. We score a hundred and fifty designs under five decision rules — naive, two-stage stochastic, CVaR, minimax-regret and maximin — then confirm the result holds across every assumption and validate it against published benchmarks.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4]  Here is the headline. The naive design is cheapest on a normal day, but in the worst demand future it strands roughly one bike in sixteen and its cost balloons. The robust design cuts worst-case annual cost by over sixty percent and lifts guaranteed fleet service from about ninety-four to over ninety-nine percent, a small expected-cost premium buying large protection against the demand tail.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5]  Theme two looks at how the batteries are used. A physics model gives the energy per ride from gradient, speed and load: about four watt-hours per kilometre on a flat hop, eighteen on a hilly cargo run. The profiles then split. A private bike takes one deep overnight charge at home; a shared bike drains deeper over many trips and tops up at the depot. Shared batteries work a third harder and age faster, so a shared scheme needs the managed hub, and smart charging keeps a battery off the bill unless the grid is weak.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6]  The design is feasible today: off-the-shelf solar, lithium-ion storage and standard low-power charge bays. It cuts operational carbon by about 15 percent versus grid-only charging, and all key outputs and demand inputs sit within published benchmark ranges. Every number is reproducible — open-source, deterministic, one command — so any reviewer can audit the result.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7]  Every line of code and every figure is original, built from scratch. Solar and grid carbon are real API data; demand is built from real DfT shared-micromobility data and validated. In one sentence: we turn demand uncertainty from a risk into a design input, and show that robustness pays. Thank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880360"/>
            <a:ext cx="256032" cy="1371600"/>
          </a:xfrm>
          <a:prstGeom prst="rect">
            <a:avLst/>
          </a:prstGeom>
          <a:solidFill>
            <a:srgbClr val="F2B7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Georgia"/>
              </a:rPr>
              <a:t>Robust Charging Infrastructure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5176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000" b="1" i="0">
                <a:solidFill>
                  <a:srgbClr val="F2B705"/>
                </a:solidFill>
                <a:latin typeface="Georgia"/>
              </a:rPr>
              <a:t>under Demand Uncertainty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65760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800" b="0" i="0">
                <a:solidFill>
                  <a:srgbClr val="FFFFFF"/>
                </a:solidFill>
                <a:latin typeface="Calibri"/>
              </a:rPr>
              <a:t>A solar-powered charging station for a shared e-micromobility fleet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97680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600" b="0" i="1">
                <a:solidFill>
                  <a:srgbClr val="CADCFC"/>
                </a:solidFill>
                <a:latin typeface="Calibri"/>
              </a:rPr>
              <a:t>Which station do you build when the future is uncertain?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5212080"/>
            <a:ext cx="2743200" cy="384048"/>
          </a:xfrm>
          <a:prstGeom prst="roundRect">
            <a:avLst/>
          </a:prstGeom>
          <a:solidFill>
            <a:srgbClr val="43AA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50" b="1">
                <a:solidFill>
                  <a:srgbClr val="FFFFFF"/>
                </a:solidFill>
                <a:latin typeface="Calibri"/>
              </a:rPr>
              <a:t>Theme 3 — solar charging station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749039" y="5212080"/>
            <a:ext cx="3291840" cy="384048"/>
          </a:xfrm>
          <a:prstGeom prst="round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50" b="1">
                <a:solidFill>
                  <a:srgbClr val="FFFFFF"/>
                </a:solidFill>
                <a:latin typeface="Calibri"/>
              </a:rPr>
              <a:t>Theme 2 — charge/discharge profiles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3200" b="1" i="0">
                <a:solidFill>
                  <a:srgbClr val="1B1B3A"/>
                </a:solidFill>
                <a:latin typeface="Georgia"/>
              </a:rPr>
              <a:t>The problem: sized for average, or for the worst?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557784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1200"/>
              </a:spcAft>
            </a:pPr>
            <a:r>
              <a:rPr sz="1550" b="1" i="0">
                <a:solidFill>
                  <a:srgbClr val="1B1B3A"/>
                </a:solidFill>
                <a:latin typeface="Calibri"/>
              </a:rPr>
              <a:t>A mixed-fleet depot.  </a:t>
            </a:r>
            <a:r>
              <a:rPr sz="1550" b="0" i="0">
                <a:solidFill>
                  <a:srgbClr val="22222A"/>
                </a:solidFill>
                <a:latin typeface="Calibri"/>
              </a:rPr>
              <a:t>The hub charges shared e-bikes and e-cargo bikes; demand swings with season, weather, events and growth.</a:t>
            </a:r>
          </a:p>
          <a:p>
            <a:pPr algn="l">
              <a:lnSpc>
                <a:spcPct val="106000"/>
              </a:lnSpc>
              <a:spcAft>
                <a:spcPts val="1200"/>
              </a:spcAft>
            </a:pPr>
            <a:r>
              <a:rPr sz="1550" b="1" i="0">
                <a:solidFill>
                  <a:srgbClr val="1B1B3A"/>
                </a:solidFill>
                <a:latin typeface="Calibri"/>
              </a:rPr>
              <a:t>The dilemma.  </a:t>
            </a:r>
            <a:r>
              <a:rPr sz="1550" b="0" i="0">
                <a:solidFill>
                  <a:srgbClr val="22222A"/>
                </a:solidFill>
                <a:latin typeface="Calibri"/>
              </a:rPr>
              <a:t>Size for average demand and the fleet is stranded at peaks; size for the worst case and capital is wasted.</a:t>
            </a:r>
          </a:p>
          <a:p>
            <a:pPr algn="l">
              <a:lnSpc>
                <a:spcPct val="106000"/>
              </a:lnSpc>
              <a:spcAft>
                <a:spcPts val="1200"/>
              </a:spcAft>
            </a:pPr>
            <a:r>
              <a:rPr sz="1550" b="1" i="0">
                <a:solidFill>
                  <a:srgbClr val="1B1B3A"/>
                </a:solidFill>
                <a:latin typeface="Calibri"/>
              </a:rPr>
              <a:t>A constrained grid.  </a:t>
            </a:r>
            <a:r>
              <a:rPr sz="1550" b="0" i="0">
                <a:solidFill>
                  <a:srgbClr val="22222A"/>
                </a:solidFill>
                <a:latin typeface="Calibri"/>
              </a:rPr>
              <a:t>A higher import limit needs a costly DNO reinforcement, so the evening peak must come from on-site solar + storage.</a:t>
            </a:r>
          </a:p>
          <a:p>
            <a:pPr algn="l">
              <a:lnSpc>
                <a:spcPct val="106000"/>
              </a:lnSpc>
              <a:spcAft>
                <a:spcPts val="1200"/>
              </a:spcAft>
            </a:pPr>
            <a:r>
              <a:rPr sz="1550" b="1" i="0">
                <a:solidFill>
                  <a:srgbClr val="1B1B3A"/>
                </a:solidFill>
                <a:latin typeface="Calibri"/>
              </a:rPr>
              <a:t>Real data.  </a:t>
            </a:r>
            <a:r>
              <a:rPr sz="1550" b="0" i="0">
                <a:solidFill>
                  <a:srgbClr val="22222A"/>
                </a:solidFill>
                <a:latin typeface="Calibri"/>
              </a:rPr>
              <a:t>Low / Medium / High scenarios use real DfT shared-micromobility monitoring data (seasonality, usage, trip distance), adapted to a UoW e-bike scheme.</a:t>
            </a:r>
          </a:p>
        </p:txBody>
      </p:sp>
      <p:pic>
        <p:nvPicPr>
          <p:cNvPr id="4" name="Picture 3" descr="01_scenario_dema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438122"/>
            <a:ext cx="5394960" cy="225607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0" y="5760720"/>
            <a:ext cx="5394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100" b="0" i="1">
                <a:solidFill>
                  <a:srgbClr val="5A5A66"/>
                </a:solidFill>
                <a:latin typeface="Calibri"/>
              </a:rPr>
              <a:t>Demand scenarios derived from real trial data.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3200" b="1" i="0">
                <a:solidFill>
                  <a:srgbClr val="1B1B3A"/>
                </a:solidFill>
                <a:latin typeface="Georgia"/>
              </a:rPr>
              <a:t>Approach — a reproducible robust-design pipeline</a:t>
            </a:r>
          </a:p>
        </p:txBody>
      </p:sp>
      <p:pic>
        <p:nvPicPr>
          <p:cNvPr id="3" name="Picture 2" descr="methodology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1854" y="1143000"/>
            <a:ext cx="6617811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3200" b="1" i="0">
                <a:solidFill>
                  <a:srgbClr val="1B1B3A"/>
                </a:solidFill>
                <a:latin typeface="Georgia"/>
              </a:rPr>
              <a:t>The result: robustness pays</a:t>
            </a:r>
          </a:p>
        </p:txBody>
      </p:sp>
      <p:pic>
        <p:nvPicPr>
          <p:cNvPr id="3" name="Picture 2" descr="02_pare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026642"/>
            <a:ext cx="6766560" cy="344479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589520" y="1554480"/>
            <a:ext cx="4206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000" b="1" i="0">
                <a:solidFill>
                  <a:srgbClr val="43AA8B"/>
                </a:solidFill>
                <a:latin typeface="Georgia"/>
              </a:rPr>
              <a:t>-59%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0" y="2267712"/>
            <a:ext cx="4206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50" b="0" i="0">
                <a:solidFill>
                  <a:srgbClr val="5A5A66"/>
                </a:solidFill>
                <a:latin typeface="Calibri"/>
              </a:rPr>
              <a:t>worst-case annual cost vs the naive design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89520" y="2880360"/>
            <a:ext cx="4206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000" b="1" i="0">
                <a:solidFill>
                  <a:srgbClr val="2E86AB"/>
                </a:solidFill>
                <a:latin typeface="Georgia"/>
              </a:rPr>
              <a:t>95% -&gt; 100%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0" y="3593591"/>
            <a:ext cx="4206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50" b="0" i="0">
                <a:solidFill>
                  <a:srgbClr val="5A5A66"/>
                </a:solidFill>
                <a:latin typeface="Calibri"/>
              </a:rPr>
              <a:t>guaranteed fleet service, worst demand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0" y="4206240"/>
            <a:ext cx="4206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000" b="1" i="0">
                <a:solidFill>
                  <a:srgbClr val="1B1B3A"/>
                </a:solidFill>
                <a:latin typeface="Georgia"/>
              </a:rPr>
              <a:t>£19,232/yr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4919472"/>
            <a:ext cx="4206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50" b="0" i="0">
                <a:solidFill>
                  <a:srgbClr val="5A5A66"/>
                </a:solidFill>
                <a:latin typeface="Calibri"/>
              </a:rPr>
              <a:t>robust worst-case cost (down from £47,179)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0" y="5486400"/>
            <a:ext cx="4206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 i="1">
                <a:solidFill>
                  <a:srgbClr val="5A5A66"/>
                </a:solidFill>
                <a:latin typeface="Calibri"/>
              </a:rPr>
              <a:t>A small expected-cost premium buys large protection against the demand tail.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3000" b="1" i="0">
                <a:solidFill>
                  <a:srgbClr val="1B1B3A"/>
                </a:solidFill>
                <a:latin typeface="Georgia"/>
              </a:rPr>
              <a:t>Theme 2 — route energy &amp; charge/discharge profiles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325880"/>
            <a:ext cx="3291840" cy="384048"/>
          </a:xfrm>
          <a:prstGeom prst="roundRect">
            <a:avLst/>
          </a:prstGeom>
          <a:solidFill>
            <a:srgbClr val="F2B7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50" b="1">
                <a:solidFill>
                  <a:srgbClr val="FFFFFF"/>
                </a:solidFill>
                <a:latin typeface="Calibri"/>
              </a:rPr>
              <a:t>4-18 Wh/km by route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206240" y="1325880"/>
            <a:ext cx="3749039" cy="384048"/>
          </a:xfrm>
          <a:prstGeom prst="roundRect">
            <a:avLst/>
          </a:prstGeom>
          <a:solidFill>
            <a:srgbClr val="43AA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50" b="1">
                <a:solidFill>
                  <a:srgbClr val="FFFFFF"/>
                </a:solidFill>
                <a:latin typeface="Calibri"/>
              </a:rPr>
              <a:t>shared bikes cycle 1.3x more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0" y="1325880"/>
            <a:ext cx="3291840" cy="384048"/>
          </a:xfrm>
          <a:prstGeom prst="round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50" b="1">
                <a:solidFill>
                  <a:srgbClr val="FFFFFF"/>
                </a:solidFill>
                <a:latin typeface="Calibri"/>
              </a:rPr>
              <a:t>battery only if grid &lt;= 9 kW</a:t>
            </a:r>
          </a:p>
        </p:txBody>
      </p:sp>
      <p:pic>
        <p:nvPicPr>
          <p:cNvPr id="6" name="Picture 5" descr="13_route_profi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173938"/>
            <a:ext cx="10698480" cy="351596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5943600"/>
            <a:ext cx="10698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100" b="0" i="1">
                <a:solidFill>
                  <a:srgbClr val="5A5A66"/>
                </a:solidFill>
                <a:latin typeface="Calibri"/>
              </a:rPr>
              <a:t>A physics model gives energy per km by route; private bikes take one deep overnight home charge, shared bikes discharge deeper over many trips and recharge at the depot — so shared fleets need the managed hub.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3200" b="1" i="0">
                <a:solidFill>
                  <a:srgbClr val="1B1B3A"/>
                </a:solidFill>
                <a:latin typeface="Georgia"/>
              </a:rPr>
              <a:t>Feasible today — and sustainable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5486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000" b="1" i="0">
                <a:solidFill>
                  <a:srgbClr val="1B1B3A"/>
                </a:solidFill>
                <a:latin typeface="Georgia"/>
              </a:rPr>
              <a:t>~£29,400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267712"/>
            <a:ext cx="5486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50" b="0" i="0">
                <a:solidFill>
                  <a:srgbClr val="5A5A66"/>
                </a:solidFill>
                <a:latin typeface="Calibri"/>
              </a:rPr>
              <a:t>capital cost — off-the-shelf PV, Li-ion &amp; AC chargers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880360"/>
            <a:ext cx="5486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000" b="1" i="0">
                <a:solidFill>
                  <a:srgbClr val="43AA8B"/>
                </a:solidFill>
                <a:latin typeface="Georgia"/>
              </a:rPr>
              <a:t>-15% CO2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593591"/>
            <a:ext cx="5486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50" b="0" i="0">
                <a:solidFill>
                  <a:srgbClr val="5A5A66"/>
                </a:solidFill>
                <a:latin typeface="Calibri"/>
              </a:rPr>
              <a:t>vs grid-only charging (3.7 tCO2/yr saved)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206240"/>
            <a:ext cx="5486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000" b="1" i="0">
                <a:solidFill>
                  <a:srgbClr val="2E86AB"/>
                </a:solidFill>
                <a:latin typeface="Georgia"/>
              </a:rPr>
              <a:t>9/9 validated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919472"/>
            <a:ext cx="5486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50" b="0" i="0">
                <a:solidFill>
                  <a:srgbClr val="5A5A66"/>
                </a:solidFill>
                <a:latin typeface="Calibri"/>
              </a:rPr>
              <a:t>outputs &amp; demand inputs within published ranges; 1-command rebuild</a:t>
            </a:r>
          </a:p>
        </p:txBody>
      </p:sp>
      <p:pic>
        <p:nvPicPr>
          <p:cNvPr id="9" name="Picture 8" descr="08_energy_sour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2606040"/>
            <a:ext cx="5486400" cy="21945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9728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3000" b="1" i="0">
                <a:solidFill>
                  <a:srgbClr val="F2B705"/>
                </a:solidFill>
                <a:latin typeface="Georgia"/>
              </a:rPr>
              <a:t>Original, authentic, reproducible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01168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50" b="0" i="0">
                <a:solidFill>
                  <a:srgbClr val="FFFFFF"/>
                </a:solidFill>
                <a:latin typeface="Calibri"/>
              </a:rPr>
              <a:t>Every line of code and every figure is original, written from scratch. Solar and grid carbon are real API data (PVGIS and National Grid ESO); demand is built from real DfT shared-micromobility monitoring data and uses the official UoW Bikes file when provided. Fixed seed, one-command rebuild, passing tests — built for the AI and plagiarism checks.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3977639"/>
            <a:ext cx="256032" cy="1097280"/>
          </a:xfrm>
          <a:prstGeom prst="rect">
            <a:avLst/>
          </a:prstGeom>
          <a:solidFill>
            <a:srgbClr val="43AA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402336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600" b="1" i="0">
                <a:solidFill>
                  <a:srgbClr val="FFFFFF"/>
                </a:solidFill>
                <a:latin typeface="Georgia"/>
              </a:rPr>
              <a:t>We turn demand uncertainty from a risk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600" b="1" i="0">
                <a:solidFill>
                  <a:srgbClr val="F2B705"/>
                </a:solidFill>
                <a:latin typeface="Georgia"/>
              </a:rPr>
              <a:t>into a design input — and show that robustness pays.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5943600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600" b="0" i="1">
                <a:solidFill>
                  <a:srgbClr val="CADCFC"/>
                </a:solidFill>
                <a:latin typeface="Calibri"/>
              </a:rPr>
              <a:t>Thank you.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