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Good morning. Charging infrastructure for shared e-bikes hides a trap: size a solar hub for average demand and it strands the fleet at peaks; size it for the worst case and capital sits idle. We asked the sharper question - which hub do you build when the future is uncertain? - and answered it with robust optimisation on real data. In three minutes you will see the model itself run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The case: UoW Bikes charges a mixed fleet at a campus depot behind a fifteen-kilowatt grid connection - upgrading that wire means a slow, expensive network reinforcement, so peaks must be met on site. Demand swings with term-time, weather and growth; our Low, Medium and High scenarios are built from real DfT monitoring data, so the demand range is observed, not assumed. The decision is set today - solar, battery, bays - but must perform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approach in one breath: real solar from PVGIS, real carbon from National Grid, real demand from DfT. Fifteen probability-weighted futures. For every candidate hub we simulate all eight thousand seven hundred and sixty hours of the year - solar first, then battery, then the capped grid. A hundred and fifty designs are scored under five decision rules, from naive to maximin, and the winner is stress-tested until the conclusion itself proves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The result. The naive hub is cheapest on an average day but collapses in the high-demand future: forty-seven thousand pounds a year and one bike in twenty-one stranded. The robust hub - fifteen kilowatt-peak of solar and eight smart-managed bays - cuts that worst case by fifty-nine percent and guarantees ninety-nine point six percent service. And the surprise: no battery. Smart charging flattens the load below the grid limit, so at a connected site storage adds cost and embodied carbon for nothing. Everything is off-the-shelf hardware, validated nine-for-nine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Scaling, safety, cost. A city scales by copying twenty-nine-thousand-pound modular hubs - no grid reinforcement - and under the UK-India partnership the same pipeline re-sizes for Indian solar and two- and three-wheeler fleets. Safety is standards-mapped: LFP chemistry where storage is used, BS EN battery standards, IP65 bays, and the peak is enforced in software and hardware. Costs are end-to-end: twenty-five pence per kilowatt-hour delivered, and three point seven tonnes of CO2 avoided every year, stated honestly on a marginal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That is the argument - now watch the model make it. The demonstration you are about to see is not a video and not slides: the full dispatch engine runs live in the browser, validated against our Python pipeline at load time. Four things to watch: the hub animated hour by hour; the naive design failing where the robust one holds; the browser re-searching all one hundred and fifty designs in about a second; and a battery entering the design the moment the grid weakens to eight kilowatts. Over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(Q&amp;A backdrop - leave on screen. Every headline number, the demo URL and the repository are visible while you take questions.)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Robust Solar Charging for a Shared e-Bike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which hub do you build when the future is uncertain?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University of Warwick campus - UoW Bikes - a 15 kW grid connection - 15 demand futures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20624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3 - solar charging 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420624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2 - charge/discharge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4206240"/>
            <a:ext cx="310896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Live in-browser model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206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UoW-Bikes Solar Hub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23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Final Round - Sustainable e-Micromobility Stakeholder Engagement Workshop - WMG, University of Warwick - 6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The case: one depot, a capped wire, an uncertain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5577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100"/>
              </a:spcAft>
            </a:pPr>
            <a:r>
              <a:rPr sz="1500" b="1" i="0">
                <a:solidFill>
                  <a:srgbClr val="1B1B3A"/>
                </a:solidFill>
                <a:latin typeface="Calibri"/>
              </a:rPr>
              <a:t>Who.  </a:t>
            </a:r>
            <a:r>
              <a:rPr sz="1500" b="0" i="0">
                <a:solidFill>
                  <a:srgbClr val="22222A"/>
                </a:solidFill>
                <a:latin typeface="Calibri"/>
              </a:rPr>
              <a:t>UoW Bikes charges a mixed fleet of shared e-bikes and e-cargo bikes at a campus depot.</a:t>
            </a:r>
          </a:p>
          <a:p>
            <a:pPr algn="l">
              <a:lnSpc>
                <a:spcPct val="106000"/>
              </a:lnSpc>
              <a:spcAft>
                <a:spcPts val="1100"/>
              </a:spcAft>
            </a:pPr>
            <a:r>
              <a:rPr sz="1500" b="1" i="0">
                <a:solidFill>
                  <a:srgbClr val="1B1B3A"/>
                </a:solidFill>
                <a:latin typeface="Calibri"/>
              </a:rPr>
              <a:t>The constraint.  </a:t>
            </a:r>
            <a:r>
              <a:rPr sz="1500" b="0" i="0">
                <a:solidFill>
                  <a:srgbClr val="22222A"/>
                </a:solidFill>
                <a:latin typeface="Calibri"/>
              </a:rPr>
              <a:t>A 15 kW grid connection; a bigger import limit means a slow, costly DNO reinforcement - so peaks must be met by solar + smart scheduling.</a:t>
            </a:r>
          </a:p>
          <a:p>
            <a:pPr algn="l">
              <a:lnSpc>
                <a:spcPct val="106000"/>
              </a:lnSpc>
              <a:spcAft>
                <a:spcPts val="1100"/>
              </a:spcAft>
            </a:pPr>
            <a:r>
              <a:rPr sz="1500" b="1" i="0">
                <a:solidFill>
                  <a:srgbClr val="1B1B3A"/>
                </a:solidFill>
                <a:latin typeface="Calibri"/>
              </a:rPr>
              <a:t>The uncertainty.  </a:t>
            </a:r>
            <a:r>
              <a:rPr sz="1500" b="0" i="0">
                <a:solidFill>
                  <a:srgbClr val="22222A"/>
                </a:solidFill>
                <a:latin typeface="Calibri"/>
              </a:rPr>
              <a:t>Demand swings with term-time, weather and 0-15%/yr growth. Low/Medium/High scenarios come from real DfT monitoring data - the range is observed, not assumed.</a:t>
            </a:r>
          </a:p>
          <a:p>
            <a:pPr algn="l">
              <a:lnSpc>
                <a:spcPct val="106000"/>
              </a:lnSpc>
              <a:spcAft>
                <a:spcPts val="1100"/>
              </a:spcAft>
            </a:pPr>
            <a:r>
              <a:rPr sz="1500" b="1" i="0">
                <a:solidFill>
                  <a:srgbClr val="1B1B3A"/>
                </a:solidFill>
                <a:latin typeface="Calibri"/>
              </a:rPr>
              <a:t>The decision.  </a:t>
            </a:r>
            <a:r>
              <a:rPr sz="1500" b="0" i="0">
                <a:solidFill>
                  <a:srgbClr val="22222A"/>
                </a:solidFill>
                <a:latin typeface="Calibri"/>
              </a:rPr>
              <a:t>PV size x battery size x number of bays - fixed today, but it must perform for years, in every plausible future.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9240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15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built from real DfT shared-micromobility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1">
                <a:solidFill>
                  <a:srgbClr val="5A5A66"/>
                </a:solidFill>
                <a:latin typeface="Calibri"/>
              </a:rPr>
              <a:t>Judging criterion: Case Understanding (10%)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 i="0">
                <a:solidFill>
                  <a:srgbClr val="1B1B3A"/>
                </a:solidFill>
                <a:latin typeface="Georgia"/>
              </a:rPr>
              <a:t>Approach: 15 futures x 8,760 hours x 150 designs x 5 decision rules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130" y="1143000"/>
            <a:ext cx="649525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1">
                <a:solidFill>
                  <a:srgbClr val="5A5A66"/>
                </a:solidFill>
                <a:latin typeface="Calibri"/>
              </a:rPr>
              <a:t>Judging criterion: Approach / Methodology (10%)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The result: robustness pays - and it is buildable today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092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4630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-59%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5817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95.3% -&gt; 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3833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 in the worst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15 kWp + 8 bays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619707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recommended hub - GBP 29,400 CAPEX, no battery at 15 kW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12064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Off-the-shelf mono-Si PV, standard 3 kW AC bays; smart charging replaces storage at a connected site. 9/9 model outputs validated against published ranges.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1">
                <a:solidFill>
                  <a:srgbClr val="5A5A66"/>
                </a:solidFill>
                <a:latin typeface="Calibri"/>
              </a:rPr>
              <a:t>Judging criteria: Technical Feasibility (10%) + headline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Scalable, safe, and costed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61188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3611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Modular replication: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a city scales by copying GBP 29k hubs, not by grid reinforcement.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Site-agnostic pipeline: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swap coordinates, demand file and grid cap - the model re-sizes any site.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UK &lt;-&gt; India transfer: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re-run with Indian solar (~1.6x yield) and 2/3-wheeler fleets; the weak-grid battery case becomes the binding one.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Growth priced in: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sized across 0-15%/yr growth with saturation.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234440"/>
            <a:ext cx="3611880" cy="384048"/>
          </a:xfrm>
          <a:prstGeom prst="round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783080"/>
            <a:ext cx="3611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LFP chemistry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where storage is used - cobalt-free, higher thermal-runaway onset than NMC.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Standards-mapped: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BS EN 62485-5, BS EN 50604-1, BS 7671; IP65 outdoor bays; Type-B RCD per circuit.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Layout &amp; fire: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outdoor battery cabinet, 1 m clearance, thermal cut-off; sheltered, ventilated bays away from escape routes.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Peak enforced twice: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in software (EMS schedule) and hardware (supply fusing).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234440"/>
            <a:ext cx="361188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COST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611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GBP 29,400 CAPEX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- PV, bays, installation; battery-free at 15 kW.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GBP 19,232/yr worst-case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vs GBP 47,179 naive - the premium repays in the first bad year.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LCOE GBP 0.253/kWh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delivered, incl. time-of-use tariff, GBP 80/kW-yr demand charge, PV residual value, DoD-aware battery ageing.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 i="0">
                <a:solidFill>
                  <a:srgbClr val="1B1B3A"/>
                </a:solidFill>
                <a:latin typeface="Calibri"/>
              </a:rPr>
              <a:t>3.7 tCO2/yr avoided</a:t>
            </a:r>
            <a:r>
              <a:rPr sz="1250" b="0" i="0">
                <a:solidFill>
                  <a:srgbClr val="22222A"/>
                </a:solidFill>
                <a:latin typeface="Calibri"/>
              </a:rPr>
              <a:t> (15% vs grid-only, marginal basis) - 55 t over the PV lifetime.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1">
                <a:solidFill>
                  <a:srgbClr val="5A5A66"/>
                </a:solidFill>
                <a:latin typeface="Calibri"/>
              </a:rPr>
              <a:t>Judging criterion: Scalability, Safety &amp; Cost Analysis (10%)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2B705"/>
                </a:solidFill>
                <a:latin typeface="Georgia"/>
              </a:rPr>
              <a:t>Now - the model itself, live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7373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0078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hub, animated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84831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hour-by-hour dispatch of the real model - sun up, bikes out, smart charging into the sun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761488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2491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Break it, then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0896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the naive design collapses in the worst future; the robust design holds at 99.6%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6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7490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150 designs, searched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330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the browser re-runs the full robust optimisation - 20 million simulated hours - in about a second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80974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7316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storage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15721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weaken the grid to 8 kW and watch a battery enter the optimal design</a:t>
            </a:r>
          </a:p>
        </p:txBody>
      </p:sp>
      <p:pic>
        <p:nvPicPr>
          <p:cNvPr id="15" name="Picture 14" descr="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2377440" cy="23774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43434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scan to open on your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8463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2B705"/>
                </a:solidFill>
                <a:latin typeface="Calibri"/>
              </a:rPr>
              <a:t>gourav88502.github.io/emicromobility-robust-charging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978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CADCFC"/>
                </a:solidFill>
                <a:latin typeface="Calibri"/>
              </a:rPr>
              <a:t>Runs in any browser - no install, works offline; every number re-derived by the page and checked against the Python pipeline at load.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1">
                <a:solidFill>
                  <a:srgbClr val="CADCFC"/>
                </a:solidFill>
                <a:latin typeface="Calibri"/>
              </a:rPr>
              <a:t>Judging criterion: Demonstration of Model (40%) - handoff to the live 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 i="0">
                <a:solidFill>
                  <a:srgbClr val="F2B705"/>
                </a:solidFill>
                <a:latin typeface="Georgia"/>
              </a:rPr>
              <a:t>Questions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600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0" i="1">
                <a:solidFill>
                  <a:srgbClr val="FFFFFF"/>
                </a:solidFill>
                <a:latin typeface="Calibri"/>
              </a:rPr>
              <a:t>We turn demand uncertainty from a risk into a design input - and show that robustness pays.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517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15 kWp / 0 kWh / 8 bays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2724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recommended robust hub (maximin)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6517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-59%  worst-case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12724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GBP 47,179 -&gt; GBP 19,232 per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6517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99.6%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312724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guaranteed in every one of 15 futures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battery only if grid &lt;= 9 kW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the storage boundary, located by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29768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9/9 validated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77316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outputs &amp; inputs within published ranges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29768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3.7 tCO2/yr avoided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73168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15% vs grid-only, marginal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Live demo: gourav88502.github.io/emicromobility-robust-charging    -    Code, data &amp; tests: github.com/Gourav88502/emicromobility-robust-charging  (MIT, one-command reproducible)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