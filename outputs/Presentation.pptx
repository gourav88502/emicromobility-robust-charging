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1]  Good morning. Instead of asking how large a charger should be for average demand, our prototype asks what design still works when demand, grid limits and future growth change. A hub sized for the average strands bikes on busy days; an oversized one wastes capital. We answer this with robust optimisation on open data - and in three minutes you will see it run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2]  The method in one breath. Demand is calibrated to the UoW Bikes use case from open shared-micromobility evidence; solar comes from PVGIS for Coventry and grid carbon from National Grid ESO. Every candidate hub is simulated over all eight thousand seven hundred and sixty hours of a year. One hundred and fifty designs are scored across fifteen futures under five decision rules - and we recommend the one that still performs well when the future is worse than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3]  The recommended design is 15 kilowatt-peak of solar, zero kilowatt-hours of battery, and 8 smart-managed bays. Twenty-nine thousand four hundred pounds of capital, twenty-five pence per kilowatt-hour delivered, and three point seven tonnes of CO2 avoided each year. The reason there is no battery: a returned bike only needs to be ready by morning, so smart charging schedules the energy into sunny and off-peak hours and the load never breaks the fifteen-kilowatt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4]  What does robustness buy? The average-demand design looks cheapest on a normal day, but in the worst demand future its cost reaches forty-seven thousand pounds a year and it strands one bike in twenty-one. The robust design cuts that worst case by nearly sixty percent and lifts guaranteed service from ninety-five point three to ninety-nine point six percent. And we stress-tested the conclusion itself: it held in one hundred percent of thirty-five assumption combinations.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5]  This result is not anti-battery. It shows that for a connected Warwick campus hub, smart charging gives the required robustness without extra battery cost, degradation or material impact. We swept the grid connection to find exactly where that changes: at roughly eight to ten kilowatts, storage starts entering the optimal design - and there we specify LFP chemistry with second-life reuse. The most sustainable battery is sometimes the one you do not need to install.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6]  That is the argument - now the prototype makes it live: the full model runs in the browser, checks itself against our Python pipeline, and works offline. Watch four things: the recommendation recomputed in front of you; the average-demand design failing where the robust one holds; a battery entering the design when the grid weakens to eight kilowatts; and the validation behind every number. Over to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40280"/>
            <a:ext cx="256032" cy="137160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Which solar charging hub should Warwick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600" b="1" i="0">
                <a:solidFill>
                  <a:srgbClr val="F2B705"/>
                </a:solidFill>
                <a:latin typeface="Georgia"/>
              </a:rPr>
              <a:t>when e-bike demand is uncertain?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Size a hub for average demand and it strands bikes on busy days. Oversize it and capital sits idle.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Our prototype asks a sharper question: which design still works when demand, grid limits and growth change?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434840"/>
            <a:ext cx="2926080" cy="384048"/>
          </a:xfrm>
          <a:prstGeom prst="roundRect">
            <a:avLst/>
          </a:prstGeom>
          <a:solidFill>
            <a:srgbClr val="43A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Theme 3 - solar charging station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4434840"/>
            <a:ext cx="3291840" cy="38404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Theme 2 - charge/discharge profiles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4434840"/>
            <a:ext cx="2926080" cy="384048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Live in-browser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UoW-Bikes Solar Hub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Sustainable e-Micromobility Stakeholder Engagement Workshop - WMG, University of Warwick - 6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800" b="1" i="0">
                <a:solidFill>
                  <a:srgbClr val="1B1B3A"/>
                </a:solidFill>
                <a:latin typeface="Georgia"/>
              </a:rPr>
              <a:t>Method: open data, one full year, every design, five decision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 i="1">
                <a:solidFill>
                  <a:srgbClr val="5A5A66"/>
                </a:solidFill>
                <a:latin typeface="Calibri"/>
              </a:rPr>
              <a:t>The model chooses the design that still performs well when the future is worse than expected.</a:t>
            </a:r>
          </a:p>
        </p:txBody>
      </p:sp>
      <p:pic>
        <p:nvPicPr>
          <p:cNvPr id="4" name="Picture 3" descr="methodolog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234" y="1600200"/>
            <a:ext cx="6005051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2E86AB"/>
                </a:solidFill>
                <a:latin typeface="Calibri"/>
              </a:rPr>
              <a:t>UoW e-bike demand  &gt;  Coventry solar (PVGIS)  &gt;  West Midlands carbon (ESO)  &gt;  8,760-hour simulation  &gt;  150 designs  &gt;  5 decision rules  &gt;  robust 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B1B3A"/>
                </a:solidFill>
                <a:latin typeface="Georgia"/>
              </a:rPr>
              <a:t>The recommendation: 15 kWp solar - 0 kWh battery - 8 smart bays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1371600"/>
          </a:xfrm>
          <a:prstGeom prst="roundRect">
            <a:avLst/>
          </a:prstGeom>
          <a:solidFill>
            <a:srgbClr val="1B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27632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 i="0">
                <a:solidFill>
                  <a:srgbClr val="F2B705"/>
                </a:solidFill>
                <a:latin typeface="Georgia"/>
              </a:rPr>
              <a:t>15 kWp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solar PV array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27632"/>
            <a:ext cx="3474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 i="0">
                <a:solidFill>
                  <a:srgbClr val="F2B705"/>
                </a:solidFill>
                <a:latin typeface="Georgia"/>
              </a:rPr>
              <a:t>0 kWh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battery - smart charging replaces it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2763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 i="0">
                <a:solidFill>
                  <a:srgbClr val="F2B705"/>
                </a:solidFill>
                <a:latin typeface="Georgia"/>
              </a:rPr>
              <a:t>8 bays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smart-managed 3 kW charging bays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1B1B3A"/>
                </a:solidFill>
                <a:latin typeface="Georgia"/>
              </a:rPr>
              <a:t>GBP 29,400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6747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5A5A66"/>
                </a:solidFill>
                <a:latin typeface="Calibri"/>
              </a:rPr>
              <a:t>capital cost - off-the-shelf PV and AC bays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0040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2E86AB"/>
                </a:solidFill>
                <a:latin typeface="Georgia"/>
              </a:rPr>
              <a:t>GBP 0.253/kWh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796747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5A5A66"/>
                </a:solidFill>
                <a:latin typeface="Calibri"/>
              </a:rPr>
              <a:t>levelised cost of delivered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2004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43AA8B"/>
                </a:solidFill>
                <a:latin typeface="Georgia"/>
              </a:rPr>
              <a:t>3.7 tCO2/yr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796747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5A5A66"/>
                </a:solidFill>
                <a:latin typeface="Calibri"/>
              </a:rPr>
              <a:t>avoided vs grid-only charging (15%, marginal basis)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43AA8B"/>
                </a:solidFill>
                <a:latin typeface="Georgia"/>
              </a:rPr>
              <a:t>99.6%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68347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5A5A66"/>
                </a:solidFill>
                <a:latin typeface="Calibri"/>
              </a:rPr>
              <a:t>fleet service guaranteed in the worst future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7200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1B1B3A"/>
                </a:solidFill>
                <a:latin typeface="Georgia"/>
              </a:rPr>
              <a:t>GBP 19,232/yr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168347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5A5A66"/>
                </a:solidFill>
                <a:latin typeface="Calibri"/>
              </a:rPr>
              <a:t>worst-case annual cost, all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61772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5A5A66"/>
                </a:solidFill>
                <a:latin typeface="Calibri"/>
              </a:rPr>
              <a:t>Smart charging schedules flexible charging into sunny, cheap off-peak hours - the load stays under the 15 kW connection without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B1B3A"/>
                </a:solidFill>
                <a:latin typeface="Georgia"/>
              </a:rPr>
              <a:t>Robust vs average-demand design - what uncertainty costs</a:t>
            </a:r>
          </a:p>
        </p:txBody>
      </p:sp>
      <p:pic>
        <p:nvPicPr>
          <p:cNvPr id="3" name="Picture 2" descr="02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0922"/>
            <a:ext cx="6766560" cy="34447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46304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 i="0">
                <a:solidFill>
                  <a:srgbClr val="43AA8B"/>
                </a:solidFill>
                <a:latin typeface="Georgia"/>
              </a:rPr>
              <a:t>-59.2%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25817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5A5A66"/>
                </a:solidFill>
                <a:latin typeface="Calibri"/>
              </a:rPr>
              <a:t>worst-case annual cost vs the average-demand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74320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000" b="1" i="0">
                <a:solidFill>
                  <a:srgbClr val="2E86AB"/>
                </a:solidFill>
                <a:latin typeface="Georgia"/>
              </a:rPr>
              <a:t>95.3% -&gt; 99.6%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353833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5A5A66"/>
                </a:solidFill>
                <a:latin typeface="Calibri"/>
              </a:rPr>
              <a:t>guaranteed fleet service in the worst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02336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000" b="1" i="0">
                <a:solidFill>
                  <a:srgbClr val="1B1B3A"/>
                </a:solidFill>
                <a:latin typeface="Georgia"/>
              </a:rPr>
              <a:t>100% of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4619707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5A5A66"/>
                </a:solidFill>
                <a:latin typeface="Calibri"/>
              </a:rPr>
              <a:t>stress-test combinations in which the conclusion held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5029200"/>
            <a:ext cx="4206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A5A66"/>
                </a:solidFill>
                <a:latin typeface="Calibri"/>
              </a:rPr>
              <a:t>Same 500-run Monte-Carlo, Sobol sensitivity and penalty x grid x horizon sweep behind every number.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 i="0">
                <a:solidFill>
                  <a:srgbClr val="1B1B3A"/>
                </a:solidFill>
                <a:latin typeface="Georgia"/>
              </a:rPr>
              <a:t>When does a battery pay? Only when the grid is weak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57400"/>
            <a:ext cx="566928" cy="2103120"/>
          </a:xfrm>
          <a:prstGeom prst="roundRect">
            <a:avLst/>
          </a:prstGeom>
          <a:solidFill>
            <a:srgbClr val="43A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74650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43AA8B"/>
                </a:solidFill>
                <a:latin typeface="Calibri"/>
              </a:rP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33672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057400"/>
            <a:ext cx="566928" cy="2103120"/>
          </a:xfrm>
          <a:prstGeom prst="roundRect">
            <a:avLst/>
          </a:prstGeom>
          <a:solidFill>
            <a:srgbClr val="43A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2768" y="1746504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43AA8B"/>
                </a:solidFill>
                <a:latin typeface="Calibri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4233672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3319272"/>
            <a:ext cx="566928" cy="841247"/>
          </a:xfrm>
          <a:prstGeom prst="roundRect">
            <a:avLst/>
          </a:prstGeom>
          <a:solidFill>
            <a:srgbClr val="43A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3008376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43AA8B"/>
                </a:solidFill>
                <a:latin typeface="Calibr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4233672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105656"/>
            <a:ext cx="566928" cy="54864"/>
          </a:xfrm>
          <a:prstGeom prst="roundRect">
            <a:avLst/>
          </a:prstGeom>
          <a:solidFill>
            <a:srgbClr val="D9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4233672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105656"/>
            <a:ext cx="566928" cy="54864"/>
          </a:xfrm>
          <a:prstGeom prst="roundRect">
            <a:avLst/>
          </a:prstGeom>
          <a:solidFill>
            <a:srgbClr val="D9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1648" y="4233672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4105656"/>
            <a:ext cx="566928" cy="54864"/>
          </a:xfrm>
          <a:prstGeom prst="roundRect">
            <a:avLst/>
          </a:prstGeom>
          <a:solidFill>
            <a:srgbClr val="D9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4233672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4105656"/>
            <a:ext cx="566928" cy="54864"/>
          </a:xfrm>
          <a:prstGeom prst="roundRect">
            <a:avLst/>
          </a:prstGeom>
          <a:solidFill>
            <a:srgbClr val="D9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4233672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18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105656"/>
            <a:ext cx="566928" cy="54864"/>
          </a:xfrm>
          <a:prstGeom prst="roundRect">
            <a:avLst/>
          </a:prstGeom>
          <a:solidFill>
            <a:srgbClr val="D9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4233672"/>
            <a:ext cx="749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5A5A66"/>
                </a:solidFill>
                <a:latin typeface="Calibr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44568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0" i="1">
                <a:solidFill>
                  <a:srgbClr val="5A5A66"/>
                </a:solidFill>
                <a:latin typeface="Calibri"/>
              </a:rPr>
              <a:t>grid connection limit (kW)  -  bars show battery kWh in the robust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1371600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B1B3A"/>
                </a:solidFill>
                <a:latin typeface="Calibri"/>
              </a:rPr>
              <a:t>Battery enters the optimal design at &lt;= 8 kW and is gone by 10 kW.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1371600"/>
            <a:ext cx="402336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 i="0">
                <a:solidFill>
                  <a:srgbClr val="1B1B3A"/>
                </a:solidFill>
                <a:latin typeface="Calibri"/>
              </a:rPr>
              <a:t>Not an anti-battery result.  </a:t>
            </a:r>
            <a:r>
              <a:rPr sz="1300" b="0" i="0">
                <a:solidFill>
                  <a:srgbClr val="22222A"/>
                </a:solidFill>
                <a:latin typeface="Calibri"/>
              </a:rPr>
              <a:t>For a connected campus hub, smart charging gives the required robustness without battery cost, degradation or material impact.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 i="0">
                <a:solidFill>
                  <a:srgbClr val="1B1B3A"/>
                </a:solidFill>
                <a:latin typeface="Calibri"/>
              </a:rPr>
              <a:t>Conditional storage.  </a:t>
            </a:r>
            <a:r>
              <a:rPr sz="1300" b="0" i="0">
                <a:solidFill>
                  <a:srgbClr val="22222A"/>
                </a:solidFill>
                <a:latin typeface="Calibri"/>
              </a:rPr>
              <a:t>When the connection weakens to roughly 8-10 kW, the model starts recommending storage.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 i="0">
                <a:solidFill>
                  <a:srgbClr val="1B1B3A"/>
                </a:solidFill>
                <a:latin typeface="Calibri"/>
              </a:rPr>
              <a:t>LFP where needed.  </a:t>
            </a:r>
            <a:r>
              <a:rPr sz="1300" b="0" i="0">
                <a:solidFill>
                  <a:srgbClr val="22222A"/>
                </a:solidFill>
                <a:latin typeface="Calibri"/>
              </a:rPr>
              <a:t>Cobalt- and nickel-free chemistry, long cycle life; second-life reuse and recycling planned for weak-grid sites.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 i="0">
                <a:solidFill>
                  <a:srgbClr val="1B1B3A"/>
                </a:solidFill>
                <a:latin typeface="Calibri"/>
              </a:rPr>
              <a:t>Avoided impact.  </a:t>
            </a:r>
            <a:r>
              <a:rPr sz="1300" b="0" i="0">
                <a:solidFill>
                  <a:srgbClr val="22222A"/>
                </a:solidFill>
                <a:latin typeface="Calibri"/>
              </a:rPr>
              <a:t>Skipping an unnecessary pack avoids its materials and manufacturing footprint entirely.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6583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1">
                <a:solidFill>
                  <a:srgbClr val="43AA8B"/>
                </a:solidFill>
                <a:latin typeface="Calibri"/>
              </a:rPr>
              <a:t>“The most sustainable battery is sometimes the one you do not need to install.”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 i="0">
                <a:solidFill>
                  <a:srgbClr val="F2B705"/>
                </a:solidFill>
                <a:latin typeface="Georgia"/>
              </a:rPr>
              <a:t>Now - the prototype itself, live</a:t>
            </a:r>
          </a:p>
        </p:txBody>
      </p:sp>
      <p:sp>
        <p:nvSpPr>
          <p:cNvPr id="3" name="Oval 2"/>
          <p:cNvSpPr/>
          <p:nvPr/>
        </p:nvSpPr>
        <p:spPr>
          <a:xfrm>
            <a:off x="868680" y="16002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B1B3A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563624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The recommendation, computed in front of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929384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the browser re-runs the full 150-design optimisation in about a second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532888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B1B3A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96312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Break it, then fix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862072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the average-demand design goes red at peaks; the robust design holds at 99.6%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465576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B1B3A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4290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The battery threshold, proven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9476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weaken the grid to 8 kW and storage enters the optimal design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9826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B1B3A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361688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Validated and reproducible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727448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CADCFC"/>
                </a:solidFill>
                <a:latin typeface="Calibri"/>
              </a:rPr>
              <a:t>9/9 checks in published ranges; browser matches the Python pipeline; one command rebuilds everything</a:t>
            </a:r>
          </a:p>
        </p:txBody>
      </p:sp>
      <p:pic>
        <p:nvPicPr>
          <p:cNvPr id="15" name="Picture 14" descr="_demo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600200"/>
            <a:ext cx="2194560" cy="2194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75320" y="3886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scan to open on your 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3434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gourav88502.github.io/emicromobility-robust-charging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5440680"/>
            <a:ext cx="256032" cy="868680"/>
          </a:xfrm>
          <a:prstGeom prst="rect">
            <a:avLst/>
          </a:prstGeom>
          <a:solidFill>
            <a:srgbClr val="43A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486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Georgia"/>
              </a:rPr>
              <a:t>The prototype turns uncertain e-bike demand into a clear infrastructure decision: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900" b="1" i="0">
                <a:solidFill>
                  <a:srgbClr val="F2B705"/>
                </a:solidFill>
                <a:latin typeface="Georgia"/>
              </a:rPr>
              <a:t>how much solar, whether a battery is needed, and how many smart bays to install.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