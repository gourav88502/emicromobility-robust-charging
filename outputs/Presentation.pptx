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Charging infrastructure for shared e-bikes hides a trap. Size a solar station for average demand and it collapses at peaks; size it for the worst case and capital sits idle. Our project asks the sharper question: which station do you build when the future is uncertain? We answer it with robust optimisation, grounded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Our hub is a depot charging a mixed fleet whose demand swings with season, weather and growth, behind a constrained grid connection — a bigger import limit needs a costly network reinforcement, so the evening peak must come from on-site solar and storage. We built Low, Medium and High scenarios directly from the real UoW Bikes shared e-bike trial: real trips, fleet size, deployment and distance. The demand range is observed, not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pipeline is fully reproducible. From fifteen demand scenarios we run an eight-thousand-seven-hundred-and-sixty-hour energy balance for every candidate hub: solar, to battery, to a capped grid. We score a hundred and fifty designs under five decision rules — naive, two-stage stochastic, CVaR, minimax-regret and maximin — then confirm the result holds across every assumption and validate it against published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Here is the headline. The naive design is cheapest on a normal day, but in the worst demand future it strands roughly one bike in sixteen and its cost balloons. The robust design cuts worst-case annual cost by over sixty percent and lifts guaranteed fleet service from about ninety-four to over ninety-nine percent, a small expected-cost premium buying large protection against the demand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Theme two looks at how the batteries are used. A physics model gives the energy per ride from gradient, speed and load: about four watt-hours per kilometre on a flat hop, eighteen on a hilly cargo run. The profiles then split. A private bike takes one deep overnight charge at home; a shared bike drains deeper over many trips and tops up at the depot. Shared batteries work a third harder and age faster, so a shared scheme needs the managed hub, and smart charging keeps a battery off the bill unless the grid is weak.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The design is feasible today: off-the-shelf solar, lithium-ion storage and standard low-power charge bays. It cuts operational carbon by about 15 percent versus grid-only charging, and all seven key outputs sit within published benchmark ranges. Every number is reproducible — open-source, deterministic, one command — so any reviewer can audit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7]  Every line of code and every figure is original, built from scratch. Solar and grid carbon are real API data; demand is modelled from published shared-bike statistics and validated. In one sentence: we turn demand uncertainty from a risk into a design input, and show that robustness pays.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8036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Robust Charging Infrastructure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under Demand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A solar-powered charging station for a shared e-micromobility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Which station do you build when the future is uncertain?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212080"/>
            <a:ext cx="274320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— solar charging station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521208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— charge/discharge profiles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problem: sized for average, or for the worst?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577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mixed-fleet depot.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The hub charges shared e-bikes and e-cargo bikes; demand swings with season, weather, events and growth.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The dilemma.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Size for average demand and the fleet is stranded at peaks; size for the worst case and capital is wasted.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constrained grid.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A higher import limit needs a costly DNO reinforcement, so the evening peak must come from on-site solar + storage.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Real data.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Low / Medium / High scenarios are built from the UoW Bikes shared e-bike scheme — trips, fleet, deployment, distance.</a:t>
            </a:r>
          </a:p>
        </p:txBody>
      </p:sp>
      <p:pic>
        <p:nvPicPr>
          <p:cNvPr id="4" name="Picture 3" descr="01_scenario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38122"/>
            <a:ext cx="5394960" cy="22560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57607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Demand scenarios derived from real trial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Approach — a reproducible robust-design pipeline</a:t>
            </a:r>
          </a:p>
        </p:txBody>
      </p:sp>
      <p:pic>
        <p:nvPicPr>
          <p:cNvPr id="3" name="Picture 2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54" y="1143000"/>
            <a:ext cx="661781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result: robustness pays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664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-62%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6771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naive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880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94% -&gt; 99%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93591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service, worst demand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£21,472/yr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91947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robust worst-case cost (down from £56,994)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4864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A small expected-cost premium buys large protection against the demand tail.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Theme 2 — route energy &amp; charge/discharge profiles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29184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4-18 Wh/km by route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0" y="1325880"/>
            <a:ext cx="3749039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shared bikes cycle 1.3x more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32588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battery only if grid &lt;= 9 kW</a:t>
            </a:r>
          </a:p>
        </p:txBody>
      </p:sp>
      <p:pic>
        <p:nvPicPr>
          <p:cNvPr id="6" name="Picture 5" descr="13_rout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73938"/>
            <a:ext cx="10698480" cy="35159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A physics model gives energy per km by route; private bikes take one deep overnight home charge, shared bikes discharge deeper over many trips and recharge at the depot — so shared fleets need the managed hub.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Feasible today — and sustainable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~£29,400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6771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capital cost — off-the-shelf PV, Li-ion &amp; AC chargers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-15% CO2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93591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vs grid-only charging (3.8 tCO2/yr saved)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7/7 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1947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key outputs within published benchmark ranges; 1-command rebuild</a:t>
            </a:r>
          </a:p>
        </p:txBody>
      </p:sp>
      <p:pic>
        <p:nvPicPr>
          <p:cNvPr id="9" name="Picture 8" descr="08_energy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06040"/>
            <a:ext cx="54864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F2B705"/>
                </a:solidFill>
                <a:latin typeface="Georgia"/>
              </a:rPr>
              <a:t>Original, authentic, reproducible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0116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0" i="0">
                <a:solidFill>
                  <a:srgbClr val="FFFFFF"/>
                </a:solidFill>
                <a:latin typeface="Calibri"/>
              </a:rPr>
              <a:t>Every line of code and every figure is original, written from scratch. Solar and grid carbon are real API data (PVGIS and National Grid ESO); demand is modelled from published shared e-bike statistics and uses the official UoW Bikes file when provided. Fixed seed, one-command rebuild, passing tests — built for the AI and plagiarism checks.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56032" cy="1097280"/>
          </a:xfrm>
          <a:prstGeom prst="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023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We turn demand uncertainty from a risk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2B705"/>
                </a:solidFill>
                <a:latin typeface="Georgia"/>
              </a:rPr>
              <a:t>into a design input — and show that robustness pays.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